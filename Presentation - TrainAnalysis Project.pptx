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72" r:id="rId6"/>
    <p:sldId id="261" r:id="rId7"/>
    <p:sldId id="263" r:id="rId8"/>
    <p:sldId id="275" r:id="rId9"/>
    <p:sldId id="267" r:id="rId10"/>
    <p:sldId id="273" r:id="rId11"/>
    <p:sldId id="268" r:id="rId12"/>
    <p:sldId id="274" r:id="rId13"/>
  </p:sldIdLst>
  <p:sldSz cx="18288000" cy="10287000"/>
  <p:notesSz cx="6858000" cy="9144000"/>
  <p:embeddedFontLst>
    <p:embeddedFont>
      <p:font typeface="Fira Sans Bold" panose="020F0502020204030204" pitchFamily="34" charset="0"/>
      <p:regular r:id="rId14"/>
      <p:bold r:id="rId15"/>
      <p:italic r:id="rId16"/>
      <p:boldItalic r:id="rId17"/>
    </p:embeddedFont>
    <p:embeddedFont>
      <p:font typeface="ITC Motter Corpus Semicondensed" pitchFamily="82" charset="77"/>
      <p:regular r:id="rId18"/>
      <p:bold r:id="rId19"/>
    </p:embeddedFont>
    <p:embeddedFont>
      <p:font typeface="Rubik" pitchFamily="2" charset="-79"/>
      <p:regular r:id="rId20"/>
    </p:embeddedFont>
    <p:embeddedFont>
      <p:font typeface="Rubik Bold" pitchFamily="2" charset="-79"/>
      <p:regular r:id="rId21"/>
      <p:bold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74" autoAdjust="0"/>
    <p:restoredTop sz="91500" autoAdjust="0"/>
  </p:normalViewPr>
  <p:slideViewPr>
    <p:cSldViewPr>
      <p:cViewPr varScale="1">
        <p:scale>
          <a:sx n="78" d="100"/>
          <a:sy n="78" d="100"/>
        </p:scale>
        <p:origin x="200" y="7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8324850" cy="6587588"/>
            <a:chOff x="0" y="0"/>
            <a:chExt cx="2192553" cy="173500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2553" cy="1735003"/>
            </a:xfrm>
            <a:custGeom>
              <a:avLst/>
              <a:gdLst/>
              <a:ahLst/>
              <a:cxnLst/>
              <a:rect l="l" t="t" r="r" b="b"/>
              <a:pathLst>
                <a:path w="2192553" h="1735003">
                  <a:moveTo>
                    <a:pt x="37199" y="0"/>
                  </a:moveTo>
                  <a:lnTo>
                    <a:pt x="2155354" y="0"/>
                  </a:lnTo>
                  <a:cubicBezTo>
                    <a:pt x="2165220" y="0"/>
                    <a:pt x="2174682" y="3919"/>
                    <a:pt x="2181658" y="10895"/>
                  </a:cubicBezTo>
                  <a:cubicBezTo>
                    <a:pt x="2188634" y="17872"/>
                    <a:pt x="2192553" y="27333"/>
                    <a:pt x="2192553" y="37199"/>
                  </a:cubicBezTo>
                  <a:lnTo>
                    <a:pt x="2192553" y="1697804"/>
                  </a:lnTo>
                  <a:cubicBezTo>
                    <a:pt x="2192553" y="1707669"/>
                    <a:pt x="2188634" y="1717131"/>
                    <a:pt x="2181658" y="1724107"/>
                  </a:cubicBezTo>
                  <a:cubicBezTo>
                    <a:pt x="2174682" y="1731083"/>
                    <a:pt x="2165220" y="1735003"/>
                    <a:pt x="2155354" y="1735003"/>
                  </a:cubicBezTo>
                  <a:lnTo>
                    <a:pt x="37199" y="1735003"/>
                  </a:lnTo>
                  <a:cubicBezTo>
                    <a:pt x="27333" y="1735003"/>
                    <a:pt x="17872" y="1731083"/>
                    <a:pt x="10895" y="1724107"/>
                  </a:cubicBezTo>
                  <a:cubicBezTo>
                    <a:pt x="3919" y="1717131"/>
                    <a:pt x="0" y="1707669"/>
                    <a:pt x="0" y="1697804"/>
                  </a:cubicBezTo>
                  <a:lnTo>
                    <a:pt x="0" y="37199"/>
                  </a:lnTo>
                  <a:cubicBezTo>
                    <a:pt x="0" y="27333"/>
                    <a:pt x="3919" y="17872"/>
                    <a:pt x="10895" y="10895"/>
                  </a:cubicBezTo>
                  <a:cubicBezTo>
                    <a:pt x="17872" y="3919"/>
                    <a:pt x="27333" y="0"/>
                    <a:pt x="37199" y="0"/>
                  </a:cubicBezTo>
                  <a:close/>
                </a:path>
              </a:pathLst>
            </a:custGeom>
            <a:solidFill>
              <a:srgbClr val="8DA2BD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192553" cy="17921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7559138"/>
            <a:ext cx="8324850" cy="2061112"/>
            <a:chOff x="0" y="0"/>
            <a:chExt cx="1434943" cy="5428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34943" cy="542844"/>
            </a:xfrm>
            <a:custGeom>
              <a:avLst/>
              <a:gdLst/>
              <a:ahLst/>
              <a:cxnLst/>
              <a:rect l="l" t="t" r="r" b="b"/>
              <a:pathLst>
                <a:path w="1434943" h="542844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486005"/>
                  </a:lnTo>
                  <a:cubicBezTo>
                    <a:pt x="1434943" y="517397"/>
                    <a:pt x="1409495" y="542844"/>
                    <a:pt x="1378104" y="542844"/>
                  </a:cubicBezTo>
                  <a:lnTo>
                    <a:pt x="56839" y="542844"/>
                  </a:lnTo>
                  <a:cubicBezTo>
                    <a:pt x="25448" y="542844"/>
                    <a:pt x="0" y="517397"/>
                    <a:pt x="0" y="486005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8DA2B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434943" cy="5999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245746" y="1187741"/>
            <a:ext cx="7212453" cy="40409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7874" dirty="0">
                <a:solidFill>
                  <a:srgbClr val="2F3E4F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Train Analysis</a:t>
            </a:r>
            <a:br>
              <a:rPr lang="en-US" sz="7874" dirty="0">
                <a:solidFill>
                  <a:srgbClr val="2F3E4F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</a:br>
            <a:r>
              <a:rPr lang="en-US" sz="2399" dirty="0">
                <a:solidFill>
                  <a:srgbClr val="2F3E4F"/>
                </a:solidFill>
                <a:latin typeface="Rubik"/>
                <a:cs typeface="Rubik"/>
                <a:sym typeface="Fira Sans Light"/>
              </a:rPr>
              <a:t>A Data Driven Study of Meteorological Impact on Railway Reliability</a:t>
            </a:r>
          </a:p>
          <a:p>
            <a:pPr marL="0" lvl="0" indent="0" algn="l">
              <a:lnSpc>
                <a:spcPts val="8662"/>
              </a:lnSpc>
            </a:pPr>
            <a:endParaRPr lang="en-US" sz="7874" dirty="0">
              <a:solidFill>
                <a:srgbClr val="2F3E4F"/>
              </a:solidFill>
              <a:latin typeface="ITC Motter Corpus Semicondensed"/>
              <a:ea typeface="ITC Motter Corpus Semicondensed"/>
              <a:cs typeface="ITC Motter Corpus Semicondensed"/>
              <a:sym typeface="ITC Motter Corpus Semicondense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245747" y="8143924"/>
            <a:ext cx="4353750" cy="1276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3359"/>
              </a:lnSpc>
            </a:pPr>
            <a:r>
              <a:rPr lang="en-US" sz="2399" dirty="0">
                <a:solidFill>
                  <a:srgbClr val="2F3E4F"/>
                </a:solidFill>
                <a:latin typeface="Rubik"/>
                <a:ea typeface="Rubik"/>
                <a:cs typeface="Rubik"/>
                <a:sym typeface="Rubik"/>
              </a:rPr>
              <a:t>Presented by</a:t>
            </a:r>
            <a:br>
              <a:rPr lang="en-US" sz="2399" dirty="0">
                <a:solidFill>
                  <a:srgbClr val="2F3E4F"/>
                </a:solidFill>
                <a:latin typeface="Rubik"/>
                <a:ea typeface="Rubik"/>
                <a:cs typeface="Rubik"/>
                <a:sym typeface="Rubik"/>
              </a:rPr>
            </a:br>
            <a:r>
              <a:rPr lang="en-US" sz="2399" dirty="0">
                <a:solidFill>
                  <a:srgbClr val="2F3E4F"/>
                </a:solidFill>
                <a:latin typeface="Rubik"/>
                <a:ea typeface="Rubik"/>
                <a:cs typeface="Rubik"/>
                <a:sym typeface="Rubik"/>
              </a:rPr>
              <a:t>Saad Ur Rehman Baig</a:t>
            </a:r>
            <a:br>
              <a:rPr lang="en-US" sz="2399" dirty="0">
                <a:solidFill>
                  <a:srgbClr val="2F3E4F"/>
                </a:solidFill>
                <a:latin typeface="Rubik"/>
                <a:ea typeface="Rubik"/>
                <a:cs typeface="Rubik"/>
                <a:sym typeface="Rubik"/>
              </a:rPr>
            </a:br>
            <a:r>
              <a:rPr lang="en-US" sz="2399" dirty="0">
                <a:solidFill>
                  <a:srgbClr val="2F3E4F"/>
                </a:solidFill>
                <a:latin typeface="Rubik"/>
                <a:ea typeface="Rubik"/>
                <a:cs typeface="Rubik"/>
                <a:sym typeface="Rubik"/>
              </a:rPr>
              <a:t>Francesco Banfi</a:t>
            </a:r>
          </a:p>
        </p:txBody>
      </p:sp>
      <p:sp>
        <p:nvSpPr>
          <p:cNvPr id="19" name="TextBox 11">
            <a:extLst>
              <a:ext uri="{FF2B5EF4-FFF2-40B4-BE49-F238E27FC236}">
                <a16:creationId xmlns:a16="http://schemas.microsoft.com/office/drawing/2014/main" id="{043A7918-D8D3-5FF2-21A2-42EE7D662764}"/>
              </a:ext>
            </a:extLst>
          </p:cNvPr>
          <p:cNvSpPr txBox="1"/>
          <p:nvPr/>
        </p:nvSpPr>
        <p:spPr>
          <a:xfrm>
            <a:off x="1524000" y="5232310"/>
            <a:ext cx="7620000" cy="418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3499"/>
              </a:lnSpc>
              <a:spcBef>
                <a:spcPct val="0"/>
              </a:spcBef>
            </a:pPr>
            <a:endParaRPr lang="en-US" sz="2400" b="1" dirty="0">
              <a:solidFill>
                <a:srgbClr val="FFFFFF"/>
              </a:solidFill>
              <a:latin typeface="Fira Sans Bold"/>
              <a:ea typeface="Fira Sans Bold"/>
              <a:cs typeface="Fira Sans Bold"/>
              <a:sym typeface="Fira Sans Bold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899CF420-83CC-EC4F-4959-7950DACC6F2C}"/>
              </a:ext>
            </a:extLst>
          </p:cNvPr>
          <p:cNvSpPr/>
          <p:nvPr/>
        </p:nvSpPr>
        <p:spPr>
          <a:xfrm>
            <a:off x="9458830" y="481762"/>
            <a:ext cx="8162420" cy="9138487"/>
          </a:xfrm>
          <a:prstGeom prst="roundRect">
            <a:avLst>
              <a:gd name="adj" fmla="val 8665"/>
            </a:avLst>
          </a:prstGeom>
          <a:blipFill>
            <a:blip r:embed="rId2"/>
            <a:stretch>
              <a:fillRect t="-128" b="-128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6934200"/>
            <a:ext cx="18288000" cy="3352800"/>
            <a:chOff x="0" y="0"/>
            <a:chExt cx="4816593" cy="8830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883042"/>
            </a:xfrm>
            <a:custGeom>
              <a:avLst/>
              <a:gdLst/>
              <a:ahLst/>
              <a:cxnLst/>
              <a:rect l="l" t="t" r="r" b="b"/>
              <a:pathLst>
                <a:path w="4816592" h="883042">
                  <a:moveTo>
                    <a:pt x="0" y="0"/>
                  </a:moveTo>
                  <a:lnTo>
                    <a:pt x="4816592" y="0"/>
                  </a:lnTo>
                  <a:lnTo>
                    <a:pt x="4816592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4A6F8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9401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666750"/>
            <a:ext cx="16954500" cy="8953500"/>
            <a:chOff x="0" y="0"/>
            <a:chExt cx="4465383" cy="23581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18265" y="0"/>
                  </a:moveTo>
                  <a:lnTo>
                    <a:pt x="4447118" y="0"/>
                  </a:lnTo>
                  <a:cubicBezTo>
                    <a:pt x="4457205" y="0"/>
                    <a:pt x="4465383" y="8178"/>
                    <a:pt x="4465383" y="18265"/>
                  </a:cubicBezTo>
                  <a:lnTo>
                    <a:pt x="4465383" y="2339858"/>
                  </a:lnTo>
                  <a:cubicBezTo>
                    <a:pt x="4465383" y="2349946"/>
                    <a:pt x="4457205" y="2358124"/>
                    <a:pt x="4447118" y="2358124"/>
                  </a:cubicBezTo>
                  <a:lnTo>
                    <a:pt x="18265" y="2358124"/>
                  </a:lnTo>
                  <a:cubicBezTo>
                    <a:pt x="8178" y="2358124"/>
                    <a:pt x="0" y="2349946"/>
                    <a:pt x="0" y="2339858"/>
                  </a:cubicBezTo>
                  <a:lnTo>
                    <a:pt x="0" y="18265"/>
                  </a:lnTo>
                  <a:cubicBezTo>
                    <a:pt x="0" y="8178"/>
                    <a:pt x="8178" y="0"/>
                    <a:pt x="18265" y="0"/>
                  </a:cubicBezTo>
                  <a:close/>
                </a:path>
              </a:pathLst>
            </a:custGeom>
            <a:solidFill>
              <a:srgbClr val="F5F7FA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105024" y="1462088"/>
            <a:ext cx="12982576" cy="4081227"/>
            <a:chOff x="-1" y="-133349"/>
            <a:chExt cx="16852901" cy="5441636"/>
          </a:xfrm>
        </p:grpSpPr>
        <p:sp>
          <p:nvSpPr>
            <p:cNvPr id="9" name="TextBox 9"/>
            <p:cNvSpPr txBox="1"/>
            <p:nvPr/>
          </p:nvSpPr>
          <p:spPr>
            <a:xfrm>
              <a:off x="0" y="-133349"/>
              <a:ext cx="16852900" cy="40523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7920"/>
                </a:lnSpc>
                <a:spcBef>
                  <a:spcPct val="0"/>
                </a:spcBef>
              </a:pPr>
              <a:r>
                <a:rPr lang="en-US" sz="6600" b="1" dirty="0">
                  <a:solidFill>
                    <a:srgbClr val="2F3E4F"/>
                  </a:solidFill>
                  <a:latin typeface="ITC Motter Corpus Semicondensed"/>
                  <a:ea typeface="ITC Motter Corpus Semicondensed"/>
                  <a:cs typeface="ITC Motter Corpus Semicondensed"/>
                  <a:sym typeface="ITC Motter Corpus Semicondensed"/>
                </a:rPr>
                <a:t>Executive Summary of the Project</a:t>
              </a:r>
            </a:p>
            <a:p>
              <a:pPr lvl="0">
                <a:lnSpc>
                  <a:spcPts val="7920"/>
                </a:lnSpc>
                <a:spcBef>
                  <a:spcPct val="0"/>
                </a:spcBef>
              </a:pPr>
              <a:endParaRPr lang="en-US" sz="6600" b="1" dirty="0">
                <a:solidFill>
                  <a:srgbClr val="2F3E4F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-1" y="2876976"/>
              <a:ext cx="16852900" cy="11212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3359"/>
                </a:lnSpc>
              </a:pPr>
              <a:r>
                <a:rPr lang="en-US" sz="2400" b="1" dirty="0">
                  <a:solidFill>
                    <a:srgbClr val="2F3E4F"/>
                  </a:solidFill>
                  <a:latin typeface="Rubik Bold"/>
                  <a:ea typeface="Rubik Bold"/>
                  <a:cs typeface="Rubik Bold"/>
                  <a:sym typeface="Rubik Bold"/>
                </a:rPr>
                <a:t>INVESTIGATING WEATHER'S IMPACT ON RAILWAY DELAYS</a:t>
              </a:r>
            </a:p>
            <a:p>
              <a:pPr lvl="0">
                <a:lnSpc>
                  <a:spcPts val="3359"/>
                </a:lnSpc>
              </a:pPr>
              <a:endParaRPr lang="en-US" sz="2400" b="1" dirty="0">
                <a:solidFill>
                  <a:srgbClr val="2F3E4F"/>
                </a:solidFill>
                <a:latin typeface="Rubik Bold"/>
                <a:ea typeface="Rubik Bold"/>
                <a:cs typeface="Rubik Bold"/>
                <a:sym typeface="Rubik Bold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-1" y="4187039"/>
              <a:ext cx="16852900" cy="11212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3359"/>
                </a:lnSpc>
              </a:pPr>
              <a:r>
                <a:rPr lang="en-US" sz="2400" dirty="0">
                  <a:solidFill>
                    <a:srgbClr val="2F3E4F"/>
                  </a:solidFill>
                  <a:latin typeface="Rubik"/>
                  <a:ea typeface="Rubik"/>
                  <a:cs typeface="Rubik"/>
                  <a:sym typeface="Rubik"/>
                </a:rPr>
                <a:t>This project aims to investigate the correlation between weather conditions and railway delays in Lombardy, using modern microservices architecture with event-driven processing.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 rot="-10800000">
            <a:off x="2105025" y="7829550"/>
            <a:ext cx="913622" cy="895350"/>
            <a:chOff x="0" y="0"/>
            <a:chExt cx="635000" cy="6223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35000" cy="622300"/>
            </a:xfrm>
            <a:custGeom>
              <a:avLst/>
              <a:gdLst/>
              <a:ahLst/>
              <a:cxnLst/>
              <a:rect l="l" t="t" r="r" b="b"/>
              <a:pathLst>
                <a:path w="635000" h="622300">
                  <a:moveTo>
                    <a:pt x="547370" y="62230"/>
                  </a:moveTo>
                  <a:lnTo>
                    <a:pt x="401320" y="267970"/>
                  </a:lnTo>
                  <a:lnTo>
                    <a:pt x="635000" y="346710"/>
                  </a:lnTo>
                  <a:lnTo>
                    <a:pt x="605790" y="445770"/>
                  </a:lnTo>
                  <a:lnTo>
                    <a:pt x="369570" y="367030"/>
                  </a:lnTo>
                  <a:lnTo>
                    <a:pt x="369570" y="622300"/>
                  </a:lnTo>
                  <a:lnTo>
                    <a:pt x="267970" y="622300"/>
                  </a:lnTo>
                  <a:lnTo>
                    <a:pt x="267970" y="367030"/>
                  </a:lnTo>
                  <a:lnTo>
                    <a:pt x="31750" y="445770"/>
                  </a:lnTo>
                  <a:lnTo>
                    <a:pt x="0" y="346710"/>
                  </a:lnTo>
                  <a:lnTo>
                    <a:pt x="236220" y="267970"/>
                  </a:lnTo>
                  <a:lnTo>
                    <a:pt x="90170" y="62230"/>
                  </a:lnTo>
                  <a:lnTo>
                    <a:pt x="172720" y="0"/>
                  </a:lnTo>
                  <a:lnTo>
                    <a:pt x="318770" y="205740"/>
                  </a:lnTo>
                  <a:lnTo>
                    <a:pt x="464820" y="0"/>
                  </a:lnTo>
                  <a:lnTo>
                    <a:pt x="547370" y="62230"/>
                  </a:lnTo>
                  <a:close/>
                </a:path>
              </a:pathLst>
            </a:custGeom>
            <a:solidFill>
              <a:srgbClr val="2F3E4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6050" y="82550"/>
              <a:ext cx="342900" cy="400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6934200"/>
            <a:ext cx="18288000" cy="3352800"/>
            <a:chOff x="0" y="0"/>
            <a:chExt cx="4816593" cy="8830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883042"/>
            </a:xfrm>
            <a:custGeom>
              <a:avLst/>
              <a:gdLst/>
              <a:ahLst/>
              <a:cxnLst/>
              <a:rect l="l" t="t" r="r" b="b"/>
              <a:pathLst>
                <a:path w="4816592" h="883042">
                  <a:moveTo>
                    <a:pt x="0" y="0"/>
                  </a:moveTo>
                  <a:lnTo>
                    <a:pt x="4816592" y="0"/>
                  </a:lnTo>
                  <a:lnTo>
                    <a:pt x="4816592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2F3E4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9401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666750"/>
            <a:ext cx="16954500" cy="8953500"/>
            <a:chOff x="0" y="0"/>
            <a:chExt cx="4465383" cy="23581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18265" y="0"/>
                  </a:moveTo>
                  <a:lnTo>
                    <a:pt x="4447118" y="0"/>
                  </a:lnTo>
                  <a:cubicBezTo>
                    <a:pt x="4457205" y="0"/>
                    <a:pt x="4465383" y="8178"/>
                    <a:pt x="4465383" y="18265"/>
                  </a:cubicBezTo>
                  <a:lnTo>
                    <a:pt x="4465383" y="2339858"/>
                  </a:lnTo>
                  <a:cubicBezTo>
                    <a:pt x="4465383" y="2349946"/>
                    <a:pt x="4457205" y="2358124"/>
                    <a:pt x="4447118" y="2358124"/>
                  </a:cubicBezTo>
                  <a:lnTo>
                    <a:pt x="18265" y="2358124"/>
                  </a:lnTo>
                  <a:cubicBezTo>
                    <a:pt x="8178" y="2358124"/>
                    <a:pt x="0" y="2349946"/>
                    <a:pt x="0" y="2339858"/>
                  </a:cubicBezTo>
                  <a:lnTo>
                    <a:pt x="0" y="18265"/>
                  </a:lnTo>
                  <a:cubicBezTo>
                    <a:pt x="0" y="8178"/>
                    <a:pt x="8178" y="0"/>
                    <a:pt x="18265" y="0"/>
                  </a:cubicBezTo>
                  <a:close/>
                </a:path>
              </a:pathLst>
            </a:custGeom>
            <a:solidFill>
              <a:srgbClr val="8DA2BD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105025" y="1462088"/>
            <a:ext cx="12639675" cy="3039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7920"/>
              </a:lnSpc>
              <a:spcBef>
                <a:spcPct val="0"/>
              </a:spcBef>
            </a:pPr>
            <a:r>
              <a:rPr lang="en-US" sz="6600" b="1" dirty="0">
                <a:solidFill>
                  <a:srgbClr val="2F3E4F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Research Focus and Hypotheses Overview</a:t>
            </a:r>
          </a:p>
          <a:p>
            <a:pPr lvl="0">
              <a:lnSpc>
                <a:spcPts val="7920"/>
              </a:lnSpc>
              <a:spcBef>
                <a:spcPct val="0"/>
              </a:spcBef>
            </a:pPr>
            <a:endParaRPr lang="en-US" sz="6600" b="1" dirty="0">
              <a:solidFill>
                <a:srgbClr val="2F3E4F"/>
              </a:solidFill>
              <a:latin typeface="ITC Motter Corpus Semicondensed"/>
              <a:ea typeface="ITC Motter Corpus Semicondensed"/>
              <a:cs typeface="ITC Motter Corpus Semicondensed"/>
              <a:sym typeface="ITC Motter Corpus Semicondensed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2105025" y="5100638"/>
            <a:ext cx="5448300" cy="2364478"/>
            <a:chOff x="0" y="-57149"/>
            <a:chExt cx="7264400" cy="3152637"/>
          </a:xfrm>
        </p:grpSpPr>
        <p:sp>
          <p:nvSpPr>
            <p:cNvPr id="12" name="TextBox 12"/>
            <p:cNvSpPr txBox="1"/>
            <p:nvPr/>
          </p:nvSpPr>
          <p:spPr>
            <a:xfrm>
              <a:off x="0" y="811530"/>
              <a:ext cx="7264400" cy="22839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3359"/>
                </a:lnSpc>
              </a:pPr>
              <a:r>
                <a:rPr lang="en-US" sz="2400" dirty="0">
                  <a:solidFill>
                    <a:srgbClr val="2F3E4F"/>
                  </a:solidFill>
                  <a:latin typeface="Rubik"/>
                  <a:ea typeface="Rubik"/>
                  <a:cs typeface="Rubik"/>
                  <a:sym typeface="Rubik"/>
                </a:rPr>
                <a:t>The project investigates the temporal, spatial, and operational factors influence railway delays in relation to weather conditions. 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49"/>
              <a:ext cx="7264400" cy="5398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3359"/>
                </a:lnSpc>
              </a:pPr>
              <a:r>
                <a:rPr lang="en-US" sz="2400" b="1" dirty="0">
                  <a:solidFill>
                    <a:srgbClr val="2F3E4F"/>
                  </a:solidFill>
                  <a:latin typeface="Rubik Bold"/>
                  <a:ea typeface="Rubik Bold"/>
                  <a:cs typeface="Rubik Bold"/>
                  <a:sym typeface="Rubik Bold"/>
                </a:rPr>
                <a:t>RESEARCH FOCUS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296400" y="5100637"/>
            <a:ext cx="6705600" cy="2800497"/>
            <a:chOff x="0" y="-57150"/>
            <a:chExt cx="7264400" cy="3733995"/>
          </a:xfrm>
        </p:grpSpPr>
        <p:sp>
          <p:nvSpPr>
            <p:cNvPr id="15" name="TextBox 15"/>
            <p:cNvSpPr txBox="1"/>
            <p:nvPr/>
          </p:nvSpPr>
          <p:spPr>
            <a:xfrm>
              <a:off x="0" y="811531"/>
              <a:ext cx="7264400" cy="28653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3359"/>
                </a:lnSpc>
              </a:pPr>
              <a:r>
                <a:rPr lang="en-US" sz="2400" dirty="0">
                  <a:solidFill>
                    <a:srgbClr val="2F3E4F"/>
                  </a:solidFill>
                  <a:latin typeface="Rubik"/>
                  <a:ea typeface="Rubik"/>
                  <a:cs typeface="Rubik"/>
                  <a:sym typeface="Rubik"/>
                </a:rPr>
                <a:t>It is hypothesized that increases in rainfall and extreme temperatures will correlate with longer delays, while wind may have varying effects depending on its strength and direction.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7264400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3359"/>
                </a:lnSpc>
              </a:pPr>
              <a:r>
                <a:rPr lang="en-US" sz="2400" b="1" dirty="0">
                  <a:solidFill>
                    <a:srgbClr val="2F3E4F"/>
                  </a:solidFill>
                  <a:latin typeface="Rubik Bold"/>
                  <a:ea typeface="Rubik Bold"/>
                  <a:cs typeface="Rubik Bold"/>
                  <a:sym typeface="Rubik Bold"/>
                </a:rPr>
                <a:t>HYPOTHESES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666750" y="495300"/>
            <a:ext cx="10077450" cy="10130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7920"/>
              </a:lnSpc>
              <a:spcBef>
                <a:spcPct val="0"/>
              </a:spcBef>
            </a:pPr>
            <a:r>
              <a:rPr lang="en-US" sz="6600" b="1" dirty="0">
                <a:solidFill>
                  <a:srgbClr val="2F3E4F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Architectural Pattern</a:t>
            </a:r>
          </a:p>
        </p:txBody>
      </p:sp>
      <p:pic>
        <p:nvPicPr>
          <p:cNvPr id="13" name="Picture 12" descr="A diagram of a task&#10;&#10;AI-generated content may be incorrect.">
            <a:extLst>
              <a:ext uri="{FF2B5EF4-FFF2-40B4-BE49-F238E27FC236}">
                <a16:creationId xmlns:a16="http://schemas.microsoft.com/office/drawing/2014/main" id="{3CA5E976-A39C-AA24-E7FA-A83231C56A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5186" y="1714500"/>
            <a:ext cx="12897628" cy="789979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1B0F67-C48D-6269-6108-47AABA66B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>
            <a:extLst>
              <a:ext uri="{FF2B5EF4-FFF2-40B4-BE49-F238E27FC236}">
                <a16:creationId xmlns:a16="http://schemas.microsoft.com/office/drawing/2014/main" id="{75D4A975-2F2D-E7F5-AB18-0F4DCE0C9D29}"/>
              </a:ext>
            </a:extLst>
          </p:cNvPr>
          <p:cNvSpPr txBox="1"/>
          <p:nvPr/>
        </p:nvSpPr>
        <p:spPr>
          <a:xfrm>
            <a:off x="666750" y="566737"/>
            <a:ext cx="10610850" cy="10130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  <a:spcBef>
                <a:spcPct val="0"/>
              </a:spcBef>
            </a:pPr>
            <a:r>
              <a:rPr lang="en-US" sz="6600" b="1" u="none" strike="noStrike" dirty="0">
                <a:solidFill>
                  <a:srgbClr val="2F3E4F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Data Flow Architecture</a:t>
            </a:r>
          </a:p>
        </p:txBody>
      </p:sp>
      <p:pic>
        <p:nvPicPr>
          <p:cNvPr id="13" name="Picture 12" descr="A diagram of a process flow&#10;&#10;AI-generated content may be incorrect.">
            <a:extLst>
              <a:ext uri="{FF2B5EF4-FFF2-40B4-BE49-F238E27FC236}">
                <a16:creationId xmlns:a16="http://schemas.microsoft.com/office/drawing/2014/main" id="{1F3A365D-1B41-53CB-6786-DA7D92ED87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375" y="1790700"/>
            <a:ext cx="15335250" cy="7593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763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6"/>
          <p:cNvSpPr txBox="1"/>
          <p:nvPr/>
        </p:nvSpPr>
        <p:spPr>
          <a:xfrm>
            <a:off x="666750" y="533400"/>
            <a:ext cx="9763125" cy="113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</a:pPr>
            <a:r>
              <a:rPr lang="en-US" sz="6600">
                <a:solidFill>
                  <a:srgbClr val="2F3E4F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Project Components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90600" y="2068269"/>
            <a:ext cx="8324850" cy="1009650"/>
            <a:chOff x="0" y="0"/>
            <a:chExt cx="11099800" cy="1346200"/>
          </a:xfrm>
        </p:grpSpPr>
        <p:sp>
          <p:nvSpPr>
            <p:cNvPr id="18" name="TextBox 18"/>
            <p:cNvSpPr txBox="1"/>
            <p:nvPr/>
          </p:nvSpPr>
          <p:spPr>
            <a:xfrm>
              <a:off x="0" y="811530"/>
              <a:ext cx="11099800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400" dirty="0">
                  <a:solidFill>
                    <a:srgbClr val="2F3E4F"/>
                  </a:solidFill>
                  <a:latin typeface="Rubik"/>
                  <a:ea typeface="Rubik"/>
                  <a:cs typeface="Rubik"/>
                  <a:sym typeface="Rubik"/>
                </a:rPr>
                <a:t>Pulls data from various external APIs seamlessly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11099800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400" b="1">
                  <a:solidFill>
                    <a:srgbClr val="2F3E4F"/>
                  </a:solidFill>
                  <a:latin typeface="Rubik Bold"/>
                  <a:ea typeface="Rubik Bold"/>
                  <a:cs typeface="Rubik Bold"/>
                  <a:sym typeface="Rubik Bold"/>
                </a:rPr>
                <a:t>DATA INGESTION LAYER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90600" y="3481529"/>
            <a:ext cx="8324850" cy="1492447"/>
            <a:chOff x="0" y="-57150"/>
            <a:chExt cx="11099800" cy="1989929"/>
          </a:xfrm>
        </p:grpSpPr>
        <p:sp>
          <p:nvSpPr>
            <p:cNvPr id="21" name="TextBox 21"/>
            <p:cNvSpPr txBox="1"/>
            <p:nvPr/>
          </p:nvSpPr>
          <p:spPr>
            <a:xfrm>
              <a:off x="0" y="811531"/>
              <a:ext cx="11099800" cy="11212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400" dirty="0">
                  <a:solidFill>
                    <a:srgbClr val="2F3E4F"/>
                  </a:solidFill>
                  <a:latin typeface="Rubik"/>
                  <a:ea typeface="Rubik"/>
                  <a:cs typeface="Rubik"/>
                  <a:sym typeface="Rubik"/>
                </a:rPr>
                <a:t>Ensures accuracy and completeness of the dataset, this exist after </a:t>
              </a:r>
              <a:r>
                <a:rPr lang="en-US" sz="2400" dirty="0" err="1">
                  <a:solidFill>
                    <a:srgbClr val="2F3E4F"/>
                  </a:solidFill>
                  <a:latin typeface="Rubik"/>
                  <a:ea typeface="Rubik"/>
                  <a:cs typeface="Rubik"/>
                  <a:sym typeface="Rubik"/>
                </a:rPr>
                <a:t>injestion</a:t>
              </a:r>
              <a:r>
                <a:rPr lang="en-US" sz="2400" dirty="0">
                  <a:solidFill>
                    <a:srgbClr val="2F3E4F"/>
                  </a:solidFill>
                  <a:latin typeface="Rubik"/>
                  <a:ea typeface="Rubik"/>
                  <a:cs typeface="Rubik"/>
                  <a:sym typeface="Rubik"/>
                </a:rPr>
                <a:t> phase and integration phase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11099800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 u="none" strike="noStrike" dirty="0">
                  <a:solidFill>
                    <a:srgbClr val="2F3E4F"/>
                  </a:solidFill>
                  <a:latin typeface="Rubik Bold"/>
                  <a:ea typeface="Rubik Bold"/>
                  <a:cs typeface="Rubik Bold"/>
                  <a:sym typeface="Rubik Bold"/>
                </a:rPr>
                <a:t>DATA QUALITY </a:t>
              </a:r>
              <a:r>
                <a:rPr lang="en-US" sz="2400" b="1" dirty="0">
                  <a:solidFill>
                    <a:srgbClr val="2F3E4F"/>
                  </a:solidFill>
                  <a:latin typeface="Rubik Bold"/>
                  <a:ea typeface="Rubik Bold"/>
                  <a:cs typeface="Rubik Bold"/>
                  <a:sym typeface="Rubik Bold"/>
                </a:rPr>
                <a:t>LAYER</a:t>
              </a:r>
              <a:endParaRPr lang="en-US" sz="2400" b="1" u="none" strike="noStrike" dirty="0">
                <a:solidFill>
                  <a:srgbClr val="2F3E4F"/>
                </a:solidFill>
                <a:latin typeface="Rubik Bold"/>
                <a:ea typeface="Rubik Bold"/>
                <a:cs typeface="Rubik Bold"/>
                <a:sym typeface="Rubik Bold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90600" y="5405437"/>
            <a:ext cx="8324850" cy="1928464"/>
            <a:chOff x="0" y="-57150"/>
            <a:chExt cx="11099800" cy="2571285"/>
          </a:xfrm>
        </p:grpSpPr>
        <p:sp>
          <p:nvSpPr>
            <p:cNvPr id="24" name="TextBox 24"/>
            <p:cNvSpPr txBox="1"/>
            <p:nvPr/>
          </p:nvSpPr>
          <p:spPr>
            <a:xfrm>
              <a:off x="0" y="811531"/>
              <a:ext cx="11099800" cy="17026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400" dirty="0">
                  <a:solidFill>
                    <a:srgbClr val="2F3E4F"/>
                  </a:solidFill>
                  <a:latin typeface="Rubik"/>
                  <a:ea typeface="Rubik"/>
                  <a:cs typeface="Rubik"/>
                  <a:sym typeface="Rubik"/>
                </a:rPr>
                <a:t>We perform ingestion and integration using task-based  queuing system which allow us to parallel execute these steps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57150"/>
              <a:ext cx="11099800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 u="none" strike="noStrike" dirty="0">
                  <a:solidFill>
                    <a:srgbClr val="2F3E4F"/>
                  </a:solidFill>
                  <a:latin typeface="Rubik Bold"/>
                  <a:ea typeface="Rubik Bold"/>
                  <a:cs typeface="Rubik Bold"/>
                  <a:sym typeface="Rubik Bold"/>
                </a:rPr>
                <a:t>TASK PROCESSING LAYER</a:t>
              </a:r>
            </a:p>
          </p:txBody>
        </p:sp>
      </p:grpSp>
      <p:grpSp>
        <p:nvGrpSpPr>
          <p:cNvPr id="26" name="Group 20">
            <a:extLst>
              <a:ext uri="{FF2B5EF4-FFF2-40B4-BE49-F238E27FC236}">
                <a16:creationId xmlns:a16="http://schemas.microsoft.com/office/drawing/2014/main" id="{AB6886EA-C5C5-77C0-B3E1-4DEBF52B1A98}"/>
              </a:ext>
            </a:extLst>
          </p:cNvPr>
          <p:cNvGrpSpPr/>
          <p:nvPr/>
        </p:nvGrpSpPr>
        <p:grpSpPr>
          <a:xfrm>
            <a:off x="990600" y="7756768"/>
            <a:ext cx="8324850" cy="1009650"/>
            <a:chOff x="0" y="0"/>
            <a:chExt cx="11099800" cy="1346200"/>
          </a:xfrm>
        </p:grpSpPr>
        <p:sp>
          <p:nvSpPr>
            <p:cNvPr id="27" name="TextBox 21">
              <a:extLst>
                <a:ext uri="{FF2B5EF4-FFF2-40B4-BE49-F238E27FC236}">
                  <a16:creationId xmlns:a16="http://schemas.microsoft.com/office/drawing/2014/main" id="{C36670B3-FDF0-781C-6DF7-67CBD2DE20B3}"/>
                </a:ext>
              </a:extLst>
            </p:cNvPr>
            <p:cNvSpPr txBox="1"/>
            <p:nvPr/>
          </p:nvSpPr>
          <p:spPr>
            <a:xfrm>
              <a:off x="0" y="811530"/>
              <a:ext cx="11099800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400" dirty="0">
                  <a:solidFill>
                    <a:srgbClr val="2F3E4F"/>
                  </a:solidFill>
                  <a:latin typeface="Rubik"/>
                  <a:ea typeface="Rubik"/>
                  <a:cs typeface="Rubik"/>
                  <a:sym typeface="Rubik"/>
                </a:rPr>
                <a:t>Integrate train data with meteorological data for analysis</a:t>
              </a:r>
            </a:p>
          </p:txBody>
        </p:sp>
        <p:sp>
          <p:nvSpPr>
            <p:cNvPr id="28" name="TextBox 22">
              <a:extLst>
                <a:ext uri="{FF2B5EF4-FFF2-40B4-BE49-F238E27FC236}">
                  <a16:creationId xmlns:a16="http://schemas.microsoft.com/office/drawing/2014/main" id="{71440113-DB79-143E-294A-71647A2A6CA8}"/>
                </a:ext>
              </a:extLst>
            </p:cNvPr>
            <p:cNvSpPr txBox="1"/>
            <p:nvPr/>
          </p:nvSpPr>
          <p:spPr>
            <a:xfrm>
              <a:off x="0" y="-57150"/>
              <a:ext cx="11099800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 u="none" strike="noStrike" dirty="0">
                  <a:solidFill>
                    <a:srgbClr val="2F3E4F"/>
                  </a:solidFill>
                  <a:latin typeface="Rubik Bold"/>
                  <a:ea typeface="Rubik Bold"/>
                  <a:cs typeface="Rubik Bold"/>
                  <a:sym typeface="Rubik Bold"/>
                </a:rPr>
                <a:t>DATA INTEGRATION LAYER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6934200"/>
            <a:ext cx="18288000" cy="3352800"/>
            <a:chOff x="0" y="0"/>
            <a:chExt cx="4816593" cy="8830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883042"/>
            </a:xfrm>
            <a:custGeom>
              <a:avLst/>
              <a:gdLst/>
              <a:ahLst/>
              <a:cxnLst/>
              <a:rect l="l" t="t" r="r" b="b"/>
              <a:pathLst>
                <a:path w="4816592" h="883042">
                  <a:moveTo>
                    <a:pt x="0" y="0"/>
                  </a:moveTo>
                  <a:lnTo>
                    <a:pt x="4816592" y="0"/>
                  </a:lnTo>
                  <a:lnTo>
                    <a:pt x="4816592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4A6F8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9401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666750"/>
            <a:ext cx="16954500" cy="8953500"/>
            <a:chOff x="0" y="0"/>
            <a:chExt cx="4465383" cy="23581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18265" y="0"/>
                  </a:moveTo>
                  <a:lnTo>
                    <a:pt x="4447118" y="0"/>
                  </a:lnTo>
                  <a:cubicBezTo>
                    <a:pt x="4457205" y="0"/>
                    <a:pt x="4465383" y="8178"/>
                    <a:pt x="4465383" y="18265"/>
                  </a:cubicBezTo>
                  <a:lnTo>
                    <a:pt x="4465383" y="2339858"/>
                  </a:lnTo>
                  <a:cubicBezTo>
                    <a:pt x="4465383" y="2349946"/>
                    <a:pt x="4457205" y="2358124"/>
                    <a:pt x="4447118" y="2358124"/>
                  </a:cubicBezTo>
                  <a:lnTo>
                    <a:pt x="18265" y="2358124"/>
                  </a:lnTo>
                  <a:cubicBezTo>
                    <a:pt x="8178" y="2358124"/>
                    <a:pt x="0" y="2349946"/>
                    <a:pt x="0" y="2339858"/>
                  </a:cubicBezTo>
                  <a:lnTo>
                    <a:pt x="0" y="18265"/>
                  </a:lnTo>
                  <a:cubicBezTo>
                    <a:pt x="0" y="8178"/>
                    <a:pt x="8178" y="0"/>
                    <a:pt x="18265" y="0"/>
                  </a:cubicBezTo>
                  <a:close/>
                </a:path>
              </a:pathLst>
            </a:custGeom>
            <a:solidFill>
              <a:srgbClr val="F5F7FA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105025" y="1462088"/>
            <a:ext cx="12639675" cy="11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  <a:spcBef>
                <a:spcPct val="0"/>
              </a:spcBef>
            </a:pPr>
            <a:r>
              <a:rPr lang="en-US" sz="6600" b="1" u="none" strike="noStrike">
                <a:solidFill>
                  <a:srgbClr val="2F3E4F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Dataset Characteristics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2109449-38C1-5EC0-3F8B-995B53221AF4}"/>
              </a:ext>
            </a:extLst>
          </p:cNvPr>
          <p:cNvGrpSpPr/>
          <p:nvPr/>
        </p:nvGrpSpPr>
        <p:grpSpPr>
          <a:xfrm>
            <a:off x="1524000" y="2891880"/>
            <a:ext cx="14942958" cy="1096741"/>
            <a:chOff x="1516242" y="2552700"/>
            <a:chExt cx="11132958" cy="1015315"/>
          </a:xfrm>
        </p:grpSpPr>
        <p:grpSp>
          <p:nvGrpSpPr>
            <p:cNvPr id="16" name="Group 3">
              <a:extLst>
                <a:ext uri="{FF2B5EF4-FFF2-40B4-BE49-F238E27FC236}">
                  <a16:creationId xmlns:a16="http://schemas.microsoft.com/office/drawing/2014/main" id="{6CB61E67-FD9B-B21F-7188-93F56A9E8207}"/>
                </a:ext>
              </a:extLst>
            </p:cNvPr>
            <p:cNvGrpSpPr/>
            <p:nvPr/>
          </p:nvGrpSpPr>
          <p:grpSpPr>
            <a:xfrm>
              <a:off x="1516242" y="2568340"/>
              <a:ext cx="3200400" cy="999675"/>
              <a:chOff x="0" y="325783"/>
              <a:chExt cx="7264400" cy="1332900"/>
            </a:xfrm>
          </p:grpSpPr>
          <p:sp>
            <p:nvSpPr>
              <p:cNvPr id="25" name="TextBox 4">
                <a:extLst>
                  <a:ext uri="{FF2B5EF4-FFF2-40B4-BE49-F238E27FC236}">
                    <a16:creationId xmlns:a16="http://schemas.microsoft.com/office/drawing/2014/main" id="{4D09CC3C-2235-8E0F-989D-CDA6AF888800}"/>
                  </a:ext>
                </a:extLst>
              </p:cNvPr>
              <p:cNvSpPr txBox="1"/>
              <p:nvPr/>
            </p:nvSpPr>
            <p:spPr>
              <a:xfrm>
                <a:off x="0" y="325783"/>
                <a:ext cx="7264400" cy="1038002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3359"/>
                  </a:lnSpc>
                </a:pPr>
                <a:r>
                  <a:rPr lang="en-US" sz="3600" b="1" dirty="0">
                    <a:solidFill>
                      <a:srgbClr val="2F3E4F"/>
                    </a:solidFill>
                    <a:latin typeface="Rubik Bold"/>
                    <a:cs typeface="Rubik Bold"/>
                    <a:sym typeface="TT Ramillas"/>
                  </a:rPr>
                  <a:t>3686</a:t>
                </a:r>
              </a:p>
              <a:p>
                <a:pPr>
                  <a:lnSpc>
                    <a:spcPts val="3359"/>
                  </a:lnSpc>
                </a:pPr>
                <a:endParaRPr lang="en-US" sz="2400" b="1" dirty="0">
                  <a:solidFill>
                    <a:srgbClr val="2F3E4F"/>
                  </a:solidFill>
                  <a:latin typeface="Rubik Bold"/>
                  <a:cs typeface="Rubik Bold"/>
                  <a:sym typeface="TT Ramillas"/>
                </a:endParaRPr>
              </a:p>
            </p:txBody>
          </p:sp>
          <p:sp>
            <p:nvSpPr>
              <p:cNvPr id="26" name="TextBox 5">
                <a:extLst>
                  <a:ext uri="{FF2B5EF4-FFF2-40B4-BE49-F238E27FC236}">
                    <a16:creationId xmlns:a16="http://schemas.microsoft.com/office/drawing/2014/main" id="{CDCD5680-FCA1-D662-C316-3D6230216F68}"/>
                  </a:ext>
                </a:extLst>
              </p:cNvPr>
              <p:cNvSpPr txBox="1"/>
              <p:nvPr/>
            </p:nvSpPr>
            <p:spPr>
              <a:xfrm>
                <a:off x="17609" y="1158875"/>
                <a:ext cx="7246791" cy="499808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3359"/>
                  </a:lnSpc>
                  <a:spcBef>
                    <a:spcPct val="0"/>
                  </a:spcBef>
                </a:pPr>
                <a:r>
                  <a:rPr lang="en-US" sz="2400" dirty="0">
                    <a:solidFill>
                      <a:srgbClr val="2F3E4F"/>
                    </a:solidFill>
                    <a:latin typeface="Rubik"/>
                    <a:cs typeface="Rubik"/>
                    <a:sym typeface="Telegraf"/>
                  </a:rPr>
                  <a:t>Unique Trains</a:t>
                </a:r>
              </a:p>
            </p:txBody>
          </p:sp>
          <p:sp>
            <p:nvSpPr>
              <p:cNvPr id="27" name="AutoShape 6">
                <a:extLst>
                  <a:ext uri="{FF2B5EF4-FFF2-40B4-BE49-F238E27FC236}">
                    <a16:creationId xmlns:a16="http://schemas.microsoft.com/office/drawing/2014/main" id="{A32D0D52-AAC4-9D64-06AA-900B5EA7A3D4}"/>
                  </a:ext>
                </a:extLst>
              </p:cNvPr>
              <p:cNvSpPr/>
              <p:nvPr/>
            </p:nvSpPr>
            <p:spPr>
              <a:xfrm>
                <a:off x="17611" y="895350"/>
                <a:ext cx="7246789" cy="0"/>
              </a:xfrm>
              <a:prstGeom prst="line">
                <a:avLst/>
              </a:prstGeom>
              <a:ln w="25400" cap="flat">
                <a:solidFill>
                  <a:srgbClr val="AAB7C7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 dirty="0"/>
              </a:p>
            </p:txBody>
          </p:sp>
        </p:grpSp>
        <p:grpSp>
          <p:nvGrpSpPr>
            <p:cNvPr id="17" name="Group 3">
              <a:extLst>
                <a:ext uri="{FF2B5EF4-FFF2-40B4-BE49-F238E27FC236}">
                  <a16:creationId xmlns:a16="http://schemas.microsoft.com/office/drawing/2014/main" id="{0662A001-3477-5347-154A-AB4E55B14740}"/>
                </a:ext>
              </a:extLst>
            </p:cNvPr>
            <p:cNvGrpSpPr/>
            <p:nvPr/>
          </p:nvGrpSpPr>
          <p:grpSpPr>
            <a:xfrm>
              <a:off x="5486400" y="2568340"/>
              <a:ext cx="3200400" cy="999675"/>
              <a:chOff x="0" y="325783"/>
              <a:chExt cx="7264400" cy="1332900"/>
            </a:xfrm>
          </p:grpSpPr>
          <p:sp>
            <p:nvSpPr>
              <p:cNvPr id="22" name="TextBox 4">
                <a:extLst>
                  <a:ext uri="{FF2B5EF4-FFF2-40B4-BE49-F238E27FC236}">
                    <a16:creationId xmlns:a16="http://schemas.microsoft.com/office/drawing/2014/main" id="{18E7AB2C-4C9C-FCF9-8240-8A650E9C95AC}"/>
                  </a:ext>
                </a:extLst>
              </p:cNvPr>
              <p:cNvSpPr txBox="1"/>
              <p:nvPr/>
            </p:nvSpPr>
            <p:spPr>
              <a:xfrm>
                <a:off x="0" y="325783"/>
                <a:ext cx="7264400" cy="1038002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3359"/>
                  </a:lnSpc>
                </a:pPr>
                <a:r>
                  <a:rPr lang="en-US" sz="3600" b="1" dirty="0">
                    <a:solidFill>
                      <a:srgbClr val="2F3E4F"/>
                    </a:solidFill>
                    <a:latin typeface="Rubik Bold"/>
                    <a:cs typeface="Rubik Bold"/>
                    <a:sym typeface="TT Ramillas"/>
                  </a:rPr>
                  <a:t>325</a:t>
                </a:r>
              </a:p>
              <a:p>
                <a:pPr>
                  <a:lnSpc>
                    <a:spcPts val="3359"/>
                  </a:lnSpc>
                </a:pPr>
                <a:endParaRPr lang="en-US" sz="2400" b="1" dirty="0">
                  <a:solidFill>
                    <a:srgbClr val="2F3E4F"/>
                  </a:solidFill>
                  <a:latin typeface="Rubik Bold"/>
                  <a:cs typeface="Rubik Bold"/>
                  <a:sym typeface="TT Ramillas"/>
                </a:endParaRPr>
              </a:p>
            </p:txBody>
          </p:sp>
          <p:sp>
            <p:nvSpPr>
              <p:cNvPr id="23" name="TextBox 5">
                <a:extLst>
                  <a:ext uri="{FF2B5EF4-FFF2-40B4-BE49-F238E27FC236}">
                    <a16:creationId xmlns:a16="http://schemas.microsoft.com/office/drawing/2014/main" id="{1196857E-D3F1-3B6D-C078-EC1C37E3B5E7}"/>
                  </a:ext>
                </a:extLst>
              </p:cNvPr>
              <p:cNvSpPr txBox="1"/>
              <p:nvPr/>
            </p:nvSpPr>
            <p:spPr>
              <a:xfrm>
                <a:off x="17609" y="1158875"/>
                <a:ext cx="7246791" cy="499808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3359"/>
                  </a:lnSpc>
                  <a:spcBef>
                    <a:spcPct val="0"/>
                  </a:spcBef>
                </a:pPr>
                <a:r>
                  <a:rPr lang="en-US" sz="2400" dirty="0">
                    <a:solidFill>
                      <a:srgbClr val="2F3E4F"/>
                    </a:solidFill>
                    <a:latin typeface="Rubik"/>
                    <a:cs typeface="Rubik"/>
                    <a:sym typeface="Telegraf"/>
                  </a:rPr>
                  <a:t>Stations in </a:t>
                </a:r>
                <a:r>
                  <a:rPr lang="en-US" sz="2400" dirty="0" err="1">
                    <a:solidFill>
                      <a:srgbClr val="2F3E4F"/>
                    </a:solidFill>
                    <a:latin typeface="Rubik"/>
                    <a:cs typeface="Rubik"/>
                    <a:sym typeface="Telegraf"/>
                  </a:rPr>
                  <a:t>Lombardia</a:t>
                </a:r>
                <a:endParaRPr lang="en-US" sz="2400" dirty="0">
                  <a:solidFill>
                    <a:srgbClr val="2F3E4F"/>
                  </a:solidFill>
                  <a:latin typeface="Rubik"/>
                  <a:cs typeface="Rubik"/>
                  <a:sym typeface="Telegraf"/>
                </a:endParaRPr>
              </a:p>
            </p:txBody>
          </p:sp>
          <p:sp>
            <p:nvSpPr>
              <p:cNvPr id="24" name="AutoShape 6">
                <a:extLst>
                  <a:ext uri="{FF2B5EF4-FFF2-40B4-BE49-F238E27FC236}">
                    <a16:creationId xmlns:a16="http://schemas.microsoft.com/office/drawing/2014/main" id="{0B8FD994-6E43-AF29-4E25-9BE4E6C12276}"/>
                  </a:ext>
                </a:extLst>
              </p:cNvPr>
              <p:cNvSpPr/>
              <p:nvPr/>
            </p:nvSpPr>
            <p:spPr>
              <a:xfrm>
                <a:off x="17611" y="895350"/>
                <a:ext cx="7246789" cy="0"/>
              </a:xfrm>
              <a:prstGeom prst="line">
                <a:avLst/>
              </a:prstGeom>
              <a:ln w="25400" cap="flat">
                <a:solidFill>
                  <a:srgbClr val="AAB7C7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 dirty="0"/>
              </a:p>
            </p:txBody>
          </p:sp>
        </p:grpSp>
        <p:grpSp>
          <p:nvGrpSpPr>
            <p:cNvPr id="18" name="Group 3">
              <a:extLst>
                <a:ext uri="{FF2B5EF4-FFF2-40B4-BE49-F238E27FC236}">
                  <a16:creationId xmlns:a16="http://schemas.microsoft.com/office/drawing/2014/main" id="{BFD0D562-5E20-B75C-BF4E-2C9A6FA921AC}"/>
                </a:ext>
              </a:extLst>
            </p:cNvPr>
            <p:cNvGrpSpPr/>
            <p:nvPr/>
          </p:nvGrpSpPr>
          <p:grpSpPr>
            <a:xfrm>
              <a:off x="9448800" y="2552700"/>
              <a:ext cx="3200400" cy="999675"/>
              <a:chOff x="0" y="325783"/>
              <a:chExt cx="7264400" cy="1332900"/>
            </a:xfrm>
          </p:grpSpPr>
          <p:sp>
            <p:nvSpPr>
              <p:cNvPr id="19" name="TextBox 4">
                <a:extLst>
                  <a:ext uri="{FF2B5EF4-FFF2-40B4-BE49-F238E27FC236}">
                    <a16:creationId xmlns:a16="http://schemas.microsoft.com/office/drawing/2014/main" id="{3E846121-7E7C-A230-6C65-A1AD5F3C0249}"/>
                  </a:ext>
                </a:extLst>
              </p:cNvPr>
              <p:cNvSpPr txBox="1"/>
              <p:nvPr/>
            </p:nvSpPr>
            <p:spPr>
              <a:xfrm>
                <a:off x="0" y="325783"/>
                <a:ext cx="7264400" cy="547929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3359"/>
                  </a:lnSpc>
                </a:pPr>
                <a:r>
                  <a:rPr lang="en-US" sz="3600" b="1" dirty="0">
                    <a:solidFill>
                      <a:srgbClr val="2F3E4F"/>
                    </a:solidFill>
                    <a:latin typeface="Rubik Bold"/>
                    <a:cs typeface="Rubik Bold"/>
                    <a:sym typeface="TT Ramillas"/>
                  </a:rPr>
                  <a:t>97,424</a:t>
                </a:r>
                <a:endParaRPr lang="en-US" sz="2400" b="1" dirty="0">
                  <a:solidFill>
                    <a:srgbClr val="2F3E4F"/>
                  </a:solidFill>
                  <a:latin typeface="Rubik Bold"/>
                  <a:cs typeface="Rubik Bold"/>
                  <a:sym typeface="TT Ramillas"/>
                </a:endParaRPr>
              </a:p>
            </p:txBody>
          </p:sp>
          <p:sp>
            <p:nvSpPr>
              <p:cNvPr id="20" name="TextBox 5">
                <a:extLst>
                  <a:ext uri="{FF2B5EF4-FFF2-40B4-BE49-F238E27FC236}">
                    <a16:creationId xmlns:a16="http://schemas.microsoft.com/office/drawing/2014/main" id="{C3C47266-2619-A02B-100D-3251C90CC71D}"/>
                  </a:ext>
                </a:extLst>
              </p:cNvPr>
              <p:cNvSpPr txBox="1"/>
              <p:nvPr/>
            </p:nvSpPr>
            <p:spPr>
              <a:xfrm>
                <a:off x="17609" y="1158875"/>
                <a:ext cx="7246791" cy="499808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3359"/>
                  </a:lnSpc>
                  <a:spcBef>
                    <a:spcPct val="0"/>
                  </a:spcBef>
                </a:pPr>
                <a:r>
                  <a:rPr lang="en-US" sz="2400" dirty="0">
                    <a:solidFill>
                      <a:srgbClr val="2F3E4F"/>
                    </a:solidFill>
                    <a:latin typeface="Rubik"/>
                    <a:cs typeface="Rubik"/>
                    <a:sym typeface="Telegraf"/>
                  </a:rPr>
                  <a:t>Rainy Records</a:t>
                </a:r>
              </a:p>
            </p:txBody>
          </p:sp>
          <p:sp>
            <p:nvSpPr>
              <p:cNvPr id="21" name="AutoShape 6">
                <a:extLst>
                  <a:ext uri="{FF2B5EF4-FFF2-40B4-BE49-F238E27FC236}">
                    <a16:creationId xmlns:a16="http://schemas.microsoft.com/office/drawing/2014/main" id="{76800967-544B-A407-1939-A5CC8318690E}"/>
                  </a:ext>
                </a:extLst>
              </p:cNvPr>
              <p:cNvSpPr/>
              <p:nvPr/>
            </p:nvSpPr>
            <p:spPr>
              <a:xfrm>
                <a:off x="17611" y="895350"/>
                <a:ext cx="7246789" cy="0"/>
              </a:xfrm>
              <a:prstGeom prst="line">
                <a:avLst/>
              </a:prstGeom>
              <a:ln w="25400" cap="flat">
                <a:solidFill>
                  <a:srgbClr val="AAB7C7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 dirty="0"/>
              </a:p>
            </p:txBody>
          </p:sp>
        </p:grp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3992A89-205A-7DC6-AD5E-A7F99F6ADF37}"/>
              </a:ext>
            </a:extLst>
          </p:cNvPr>
          <p:cNvGrpSpPr/>
          <p:nvPr/>
        </p:nvGrpSpPr>
        <p:grpSpPr>
          <a:xfrm>
            <a:off x="1524000" y="4991100"/>
            <a:ext cx="14942958" cy="1096741"/>
            <a:chOff x="1516242" y="2552700"/>
            <a:chExt cx="11132958" cy="1015315"/>
          </a:xfrm>
        </p:grpSpPr>
        <p:grpSp>
          <p:nvGrpSpPr>
            <p:cNvPr id="29" name="Group 3">
              <a:extLst>
                <a:ext uri="{FF2B5EF4-FFF2-40B4-BE49-F238E27FC236}">
                  <a16:creationId xmlns:a16="http://schemas.microsoft.com/office/drawing/2014/main" id="{8EF753FE-1C3D-14D0-C69A-B053FE5A35A7}"/>
                </a:ext>
              </a:extLst>
            </p:cNvPr>
            <p:cNvGrpSpPr/>
            <p:nvPr/>
          </p:nvGrpSpPr>
          <p:grpSpPr>
            <a:xfrm>
              <a:off x="1516242" y="2568340"/>
              <a:ext cx="3200400" cy="999675"/>
              <a:chOff x="0" y="325783"/>
              <a:chExt cx="7264400" cy="1332900"/>
            </a:xfrm>
          </p:grpSpPr>
          <p:sp>
            <p:nvSpPr>
              <p:cNvPr id="38" name="TextBox 4">
                <a:extLst>
                  <a:ext uri="{FF2B5EF4-FFF2-40B4-BE49-F238E27FC236}">
                    <a16:creationId xmlns:a16="http://schemas.microsoft.com/office/drawing/2014/main" id="{A0156863-FCA7-3180-780E-3BB3D688C61A}"/>
                  </a:ext>
                </a:extLst>
              </p:cNvPr>
              <p:cNvSpPr txBox="1"/>
              <p:nvPr/>
            </p:nvSpPr>
            <p:spPr>
              <a:xfrm>
                <a:off x="0" y="325783"/>
                <a:ext cx="7264400" cy="545714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3359"/>
                  </a:lnSpc>
                </a:pPr>
                <a:r>
                  <a:rPr lang="en-US" sz="3600" b="1" dirty="0">
                    <a:solidFill>
                      <a:srgbClr val="2F3E4F"/>
                    </a:solidFill>
                    <a:latin typeface="Rubik Bold"/>
                    <a:cs typeface="Rubik Bold"/>
                    <a:sym typeface="TT Ramillas"/>
                  </a:rPr>
                  <a:t>0.10 mm</a:t>
                </a:r>
              </a:p>
            </p:txBody>
          </p:sp>
          <p:sp>
            <p:nvSpPr>
              <p:cNvPr id="39" name="TextBox 5">
                <a:extLst>
                  <a:ext uri="{FF2B5EF4-FFF2-40B4-BE49-F238E27FC236}">
                    <a16:creationId xmlns:a16="http://schemas.microsoft.com/office/drawing/2014/main" id="{BA759C23-C5D1-5C15-133B-8601535F5B36}"/>
                  </a:ext>
                </a:extLst>
              </p:cNvPr>
              <p:cNvSpPr txBox="1"/>
              <p:nvPr/>
            </p:nvSpPr>
            <p:spPr>
              <a:xfrm>
                <a:off x="17609" y="1158875"/>
                <a:ext cx="7246791" cy="499808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3359"/>
                  </a:lnSpc>
                  <a:spcBef>
                    <a:spcPct val="0"/>
                  </a:spcBef>
                </a:pPr>
                <a:r>
                  <a:rPr lang="en-US" sz="2400" dirty="0">
                    <a:solidFill>
                      <a:srgbClr val="2F3E4F"/>
                    </a:solidFill>
                    <a:latin typeface="Rubik"/>
                    <a:cs typeface="Rubik"/>
                    <a:sym typeface="Telegraf"/>
                  </a:rPr>
                  <a:t>Average Precipitation</a:t>
                </a:r>
              </a:p>
            </p:txBody>
          </p:sp>
          <p:sp>
            <p:nvSpPr>
              <p:cNvPr id="40" name="AutoShape 6">
                <a:extLst>
                  <a:ext uri="{FF2B5EF4-FFF2-40B4-BE49-F238E27FC236}">
                    <a16:creationId xmlns:a16="http://schemas.microsoft.com/office/drawing/2014/main" id="{2FE6DCA8-9E93-4ED2-8B56-708D6D65EF00}"/>
                  </a:ext>
                </a:extLst>
              </p:cNvPr>
              <p:cNvSpPr/>
              <p:nvPr/>
            </p:nvSpPr>
            <p:spPr>
              <a:xfrm>
                <a:off x="17611" y="895350"/>
                <a:ext cx="7246789" cy="0"/>
              </a:xfrm>
              <a:prstGeom prst="line">
                <a:avLst/>
              </a:prstGeom>
              <a:ln w="25400" cap="flat">
                <a:solidFill>
                  <a:srgbClr val="AAB7C7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 dirty="0"/>
              </a:p>
            </p:txBody>
          </p:sp>
        </p:grpSp>
        <p:grpSp>
          <p:nvGrpSpPr>
            <p:cNvPr id="30" name="Group 3">
              <a:extLst>
                <a:ext uri="{FF2B5EF4-FFF2-40B4-BE49-F238E27FC236}">
                  <a16:creationId xmlns:a16="http://schemas.microsoft.com/office/drawing/2014/main" id="{46EA6C22-CA29-5495-7379-15A8EA875E0F}"/>
                </a:ext>
              </a:extLst>
            </p:cNvPr>
            <p:cNvGrpSpPr/>
            <p:nvPr/>
          </p:nvGrpSpPr>
          <p:grpSpPr>
            <a:xfrm>
              <a:off x="5486400" y="2568340"/>
              <a:ext cx="3200400" cy="999675"/>
              <a:chOff x="0" y="325783"/>
              <a:chExt cx="7264400" cy="1332900"/>
            </a:xfrm>
          </p:grpSpPr>
          <p:sp>
            <p:nvSpPr>
              <p:cNvPr id="35" name="TextBox 4">
                <a:extLst>
                  <a:ext uri="{FF2B5EF4-FFF2-40B4-BE49-F238E27FC236}">
                    <a16:creationId xmlns:a16="http://schemas.microsoft.com/office/drawing/2014/main" id="{31EE3764-F489-3FBA-11CD-1B904A967717}"/>
                  </a:ext>
                </a:extLst>
              </p:cNvPr>
              <p:cNvSpPr txBox="1"/>
              <p:nvPr/>
            </p:nvSpPr>
            <p:spPr>
              <a:xfrm>
                <a:off x="0" y="325783"/>
                <a:ext cx="7264400" cy="550778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3359"/>
                  </a:lnSpc>
                </a:pPr>
                <a:r>
                  <a:rPr lang="en-US" sz="3600" b="1" dirty="0">
                    <a:solidFill>
                      <a:srgbClr val="2F3E4F"/>
                    </a:solidFill>
                    <a:latin typeface="Rubik Bold"/>
                    <a:cs typeface="Rubik Bold"/>
                    <a:sym typeface="TT Ramillas"/>
                  </a:rPr>
                  <a:t>−10.7 °C to 18.6 °C</a:t>
                </a:r>
              </a:p>
            </p:txBody>
          </p:sp>
          <p:sp>
            <p:nvSpPr>
              <p:cNvPr id="36" name="TextBox 5">
                <a:extLst>
                  <a:ext uri="{FF2B5EF4-FFF2-40B4-BE49-F238E27FC236}">
                    <a16:creationId xmlns:a16="http://schemas.microsoft.com/office/drawing/2014/main" id="{6AA823CE-E8DD-6006-36D2-2DE54D633310}"/>
                  </a:ext>
                </a:extLst>
              </p:cNvPr>
              <p:cNvSpPr txBox="1"/>
              <p:nvPr/>
            </p:nvSpPr>
            <p:spPr>
              <a:xfrm>
                <a:off x="17609" y="1158875"/>
                <a:ext cx="7246791" cy="499808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3359"/>
                  </a:lnSpc>
                  <a:spcBef>
                    <a:spcPct val="0"/>
                  </a:spcBef>
                </a:pPr>
                <a:r>
                  <a:rPr lang="en-US" sz="2400" dirty="0">
                    <a:solidFill>
                      <a:srgbClr val="2F3E4F"/>
                    </a:solidFill>
                    <a:latin typeface="Rubik"/>
                    <a:cs typeface="Rubik"/>
                    <a:sym typeface="Telegraf"/>
                  </a:rPr>
                  <a:t>Temperature Range</a:t>
                </a:r>
              </a:p>
            </p:txBody>
          </p:sp>
          <p:sp>
            <p:nvSpPr>
              <p:cNvPr id="37" name="AutoShape 6">
                <a:extLst>
                  <a:ext uri="{FF2B5EF4-FFF2-40B4-BE49-F238E27FC236}">
                    <a16:creationId xmlns:a16="http://schemas.microsoft.com/office/drawing/2014/main" id="{B7F0D0F7-B34E-0E51-8AEC-01E13E73AFA6}"/>
                  </a:ext>
                </a:extLst>
              </p:cNvPr>
              <p:cNvSpPr/>
              <p:nvPr/>
            </p:nvSpPr>
            <p:spPr>
              <a:xfrm>
                <a:off x="17611" y="895350"/>
                <a:ext cx="7246789" cy="0"/>
              </a:xfrm>
              <a:prstGeom prst="line">
                <a:avLst/>
              </a:prstGeom>
              <a:ln w="25400" cap="flat">
                <a:solidFill>
                  <a:srgbClr val="AAB7C7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 dirty="0"/>
              </a:p>
            </p:txBody>
          </p:sp>
        </p:grpSp>
        <p:grpSp>
          <p:nvGrpSpPr>
            <p:cNvPr id="31" name="Group 3">
              <a:extLst>
                <a:ext uri="{FF2B5EF4-FFF2-40B4-BE49-F238E27FC236}">
                  <a16:creationId xmlns:a16="http://schemas.microsoft.com/office/drawing/2014/main" id="{EEAB002F-F2F7-8F11-10B9-F5F3A5D48D0F}"/>
                </a:ext>
              </a:extLst>
            </p:cNvPr>
            <p:cNvGrpSpPr/>
            <p:nvPr/>
          </p:nvGrpSpPr>
          <p:grpSpPr>
            <a:xfrm>
              <a:off x="9448800" y="2552700"/>
              <a:ext cx="3200400" cy="999675"/>
              <a:chOff x="0" y="325783"/>
              <a:chExt cx="7264400" cy="1332900"/>
            </a:xfrm>
          </p:grpSpPr>
          <p:sp>
            <p:nvSpPr>
              <p:cNvPr id="32" name="TextBox 4">
                <a:extLst>
                  <a:ext uri="{FF2B5EF4-FFF2-40B4-BE49-F238E27FC236}">
                    <a16:creationId xmlns:a16="http://schemas.microsoft.com/office/drawing/2014/main" id="{88E7E06B-628F-D3EC-C65C-011C0D89F773}"/>
                  </a:ext>
                </a:extLst>
              </p:cNvPr>
              <p:cNvSpPr txBox="1"/>
              <p:nvPr/>
            </p:nvSpPr>
            <p:spPr>
              <a:xfrm>
                <a:off x="0" y="325783"/>
                <a:ext cx="7264400" cy="545714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3359"/>
                  </a:lnSpc>
                </a:pPr>
                <a:r>
                  <a:rPr lang="en-US" sz="3600" b="1" dirty="0">
                    <a:solidFill>
                      <a:srgbClr val="2F3E4F"/>
                    </a:solidFill>
                    <a:latin typeface="Rubik Bold"/>
                    <a:cs typeface="Rubik Bold"/>
                    <a:sym typeface="TT Ramillas"/>
                  </a:rPr>
                  <a:t>4.08 min</a:t>
                </a:r>
                <a:endParaRPr lang="en-US" sz="2400" b="1" dirty="0">
                  <a:solidFill>
                    <a:srgbClr val="2F3E4F"/>
                  </a:solidFill>
                  <a:latin typeface="Rubik Bold"/>
                  <a:cs typeface="Rubik Bold"/>
                  <a:sym typeface="TT Ramillas"/>
                </a:endParaRPr>
              </a:p>
            </p:txBody>
          </p:sp>
          <p:sp>
            <p:nvSpPr>
              <p:cNvPr id="33" name="TextBox 5">
                <a:extLst>
                  <a:ext uri="{FF2B5EF4-FFF2-40B4-BE49-F238E27FC236}">
                    <a16:creationId xmlns:a16="http://schemas.microsoft.com/office/drawing/2014/main" id="{6CBF6525-C62A-2031-974B-ED0EA87CE259}"/>
                  </a:ext>
                </a:extLst>
              </p:cNvPr>
              <p:cNvSpPr txBox="1"/>
              <p:nvPr/>
            </p:nvSpPr>
            <p:spPr>
              <a:xfrm>
                <a:off x="17609" y="1158875"/>
                <a:ext cx="7246791" cy="499808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3359"/>
                  </a:lnSpc>
                  <a:spcBef>
                    <a:spcPct val="0"/>
                  </a:spcBef>
                </a:pPr>
                <a:r>
                  <a:rPr lang="en-US" sz="2400" dirty="0">
                    <a:solidFill>
                      <a:srgbClr val="2F3E4F"/>
                    </a:solidFill>
                    <a:latin typeface="Rubik"/>
                    <a:cs typeface="Rubik"/>
                    <a:sym typeface="Telegraf"/>
                  </a:rPr>
                  <a:t>Average Delay (Clear)</a:t>
                </a:r>
              </a:p>
            </p:txBody>
          </p:sp>
          <p:sp>
            <p:nvSpPr>
              <p:cNvPr id="34" name="AutoShape 6">
                <a:extLst>
                  <a:ext uri="{FF2B5EF4-FFF2-40B4-BE49-F238E27FC236}">
                    <a16:creationId xmlns:a16="http://schemas.microsoft.com/office/drawing/2014/main" id="{97363BB9-F603-59C1-FDD9-26D159F0FCDF}"/>
                  </a:ext>
                </a:extLst>
              </p:cNvPr>
              <p:cNvSpPr/>
              <p:nvPr/>
            </p:nvSpPr>
            <p:spPr>
              <a:xfrm>
                <a:off x="17611" y="895350"/>
                <a:ext cx="7246789" cy="0"/>
              </a:xfrm>
              <a:prstGeom prst="line">
                <a:avLst/>
              </a:prstGeom>
              <a:ln w="25400" cap="flat">
                <a:solidFill>
                  <a:srgbClr val="AAB7C7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 dirty="0"/>
              </a:p>
            </p:txBody>
          </p:sp>
        </p:grp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1162D51E-6D04-0098-B29C-78708FB043A2}"/>
              </a:ext>
            </a:extLst>
          </p:cNvPr>
          <p:cNvGrpSpPr/>
          <p:nvPr/>
        </p:nvGrpSpPr>
        <p:grpSpPr>
          <a:xfrm>
            <a:off x="1524000" y="7048500"/>
            <a:ext cx="14942958" cy="1096741"/>
            <a:chOff x="1516242" y="2552700"/>
            <a:chExt cx="11132958" cy="1015315"/>
          </a:xfrm>
        </p:grpSpPr>
        <p:grpSp>
          <p:nvGrpSpPr>
            <p:cNvPr id="42" name="Group 3">
              <a:extLst>
                <a:ext uri="{FF2B5EF4-FFF2-40B4-BE49-F238E27FC236}">
                  <a16:creationId xmlns:a16="http://schemas.microsoft.com/office/drawing/2014/main" id="{1A433DF4-29F6-B200-E21B-BBB8F83392AB}"/>
                </a:ext>
              </a:extLst>
            </p:cNvPr>
            <p:cNvGrpSpPr/>
            <p:nvPr/>
          </p:nvGrpSpPr>
          <p:grpSpPr>
            <a:xfrm>
              <a:off x="1516242" y="2568340"/>
              <a:ext cx="3200400" cy="999675"/>
              <a:chOff x="0" y="325783"/>
              <a:chExt cx="7264400" cy="1332900"/>
            </a:xfrm>
          </p:grpSpPr>
          <p:sp>
            <p:nvSpPr>
              <p:cNvPr id="51" name="TextBox 4">
                <a:extLst>
                  <a:ext uri="{FF2B5EF4-FFF2-40B4-BE49-F238E27FC236}">
                    <a16:creationId xmlns:a16="http://schemas.microsoft.com/office/drawing/2014/main" id="{FCDB4BF3-1A85-9067-D1EB-8278AF14E182}"/>
                  </a:ext>
                </a:extLst>
              </p:cNvPr>
              <p:cNvSpPr txBox="1"/>
              <p:nvPr/>
            </p:nvSpPr>
            <p:spPr>
              <a:xfrm>
                <a:off x="0" y="325783"/>
                <a:ext cx="7264400" cy="1038002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3359"/>
                  </a:lnSpc>
                </a:pPr>
                <a:r>
                  <a:rPr lang="en-US" sz="3600" b="1" dirty="0">
                    <a:solidFill>
                      <a:srgbClr val="2F3E4F"/>
                    </a:solidFill>
                    <a:latin typeface="Rubik Bold"/>
                    <a:cs typeface="Rubik Bold"/>
                    <a:sym typeface="TT Ramillas"/>
                  </a:rPr>
                  <a:t>4.86 min</a:t>
                </a:r>
              </a:p>
              <a:p>
                <a:pPr>
                  <a:lnSpc>
                    <a:spcPts val="3359"/>
                  </a:lnSpc>
                </a:pPr>
                <a:endParaRPr lang="en-US" sz="2400" b="1" dirty="0">
                  <a:solidFill>
                    <a:srgbClr val="2F3E4F"/>
                  </a:solidFill>
                  <a:latin typeface="Rubik Bold"/>
                  <a:cs typeface="Rubik Bold"/>
                  <a:sym typeface="TT Ramillas"/>
                </a:endParaRPr>
              </a:p>
            </p:txBody>
          </p:sp>
          <p:sp>
            <p:nvSpPr>
              <p:cNvPr id="52" name="TextBox 5">
                <a:extLst>
                  <a:ext uri="{FF2B5EF4-FFF2-40B4-BE49-F238E27FC236}">
                    <a16:creationId xmlns:a16="http://schemas.microsoft.com/office/drawing/2014/main" id="{F08B5F8B-21BD-4051-CAAD-B8DE9AF5630B}"/>
                  </a:ext>
                </a:extLst>
              </p:cNvPr>
              <p:cNvSpPr txBox="1"/>
              <p:nvPr/>
            </p:nvSpPr>
            <p:spPr>
              <a:xfrm>
                <a:off x="17609" y="1158875"/>
                <a:ext cx="7246791" cy="499808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3359"/>
                  </a:lnSpc>
                  <a:spcBef>
                    <a:spcPct val="0"/>
                  </a:spcBef>
                </a:pPr>
                <a:r>
                  <a:rPr lang="en-US" sz="2400" dirty="0">
                    <a:solidFill>
                      <a:srgbClr val="2F3E4F"/>
                    </a:solidFill>
                    <a:latin typeface="Rubik"/>
                    <a:cs typeface="Rubik"/>
                    <a:sym typeface="Telegraf"/>
                  </a:rPr>
                  <a:t>Average Delay (Rush Hour)</a:t>
                </a:r>
              </a:p>
            </p:txBody>
          </p:sp>
          <p:sp>
            <p:nvSpPr>
              <p:cNvPr id="53" name="AutoShape 6">
                <a:extLst>
                  <a:ext uri="{FF2B5EF4-FFF2-40B4-BE49-F238E27FC236}">
                    <a16:creationId xmlns:a16="http://schemas.microsoft.com/office/drawing/2014/main" id="{8381D52B-247C-1A45-9E25-2C64416D35E9}"/>
                  </a:ext>
                </a:extLst>
              </p:cNvPr>
              <p:cNvSpPr/>
              <p:nvPr/>
            </p:nvSpPr>
            <p:spPr>
              <a:xfrm>
                <a:off x="17611" y="895350"/>
                <a:ext cx="7246789" cy="0"/>
              </a:xfrm>
              <a:prstGeom prst="line">
                <a:avLst/>
              </a:prstGeom>
              <a:ln w="25400" cap="flat">
                <a:solidFill>
                  <a:srgbClr val="AAB7C7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 dirty="0"/>
              </a:p>
            </p:txBody>
          </p:sp>
        </p:grpSp>
        <p:grpSp>
          <p:nvGrpSpPr>
            <p:cNvPr id="43" name="Group 3">
              <a:extLst>
                <a:ext uri="{FF2B5EF4-FFF2-40B4-BE49-F238E27FC236}">
                  <a16:creationId xmlns:a16="http://schemas.microsoft.com/office/drawing/2014/main" id="{DEC46EB5-6EF3-A8F9-8936-032CB689870B}"/>
                </a:ext>
              </a:extLst>
            </p:cNvPr>
            <p:cNvGrpSpPr/>
            <p:nvPr/>
          </p:nvGrpSpPr>
          <p:grpSpPr>
            <a:xfrm>
              <a:off x="5486400" y="2568340"/>
              <a:ext cx="3200400" cy="999675"/>
              <a:chOff x="0" y="325783"/>
              <a:chExt cx="7264400" cy="1332900"/>
            </a:xfrm>
          </p:grpSpPr>
          <p:sp>
            <p:nvSpPr>
              <p:cNvPr id="48" name="TextBox 4">
                <a:extLst>
                  <a:ext uri="{FF2B5EF4-FFF2-40B4-BE49-F238E27FC236}">
                    <a16:creationId xmlns:a16="http://schemas.microsoft.com/office/drawing/2014/main" id="{9AB129BC-14DD-13E5-16FC-56D655AF6697}"/>
                  </a:ext>
                </a:extLst>
              </p:cNvPr>
              <p:cNvSpPr txBox="1"/>
              <p:nvPr/>
            </p:nvSpPr>
            <p:spPr>
              <a:xfrm>
                <a:off x="0" y="325783"/>
                <a:ext cx="7264400" cy="545714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3359"/>
                  </a:lnSpc>
                </a:pPr>
                <a:r>
                  <a:rPr lang="en-US" sz="3600" b="1" dirty="0">
                    <a:solidFill>
                      <a:srgbClr val="2F3E4F"/>
                    </a:solidFill>
                    <a:latin typeface="Rubik Bold"/>
                    <a:cs typeface="Rubik Bold"/>
                    <a:sym typeface="TT Ramillas"/>
                  </a:rPr>
                  <a:t>4.02 min</a:t>
                </a:r>
                <a:endParaRPr lang="en-US" sz="2400" b="1" dirty="0">
                  <a:solidFill>
                    <a:srgbClr val="2F3E4F"/>
                  </a:solidFill>
                  <a:latin typeface="Rubik Bold"/>
                  <a:cs typeface="Rubik Bold"/>
                  <a:sym typeface="TT Ramillas"/>
                </a:endParaRPr>
              </a:p>
            </p:txBody>
          </p:sp>
          <p:sp>
            <p:nvSpPr>
              <p:cNvPr id="49" name="TextBox 5">
                <a:extLst>
                  <a:ext uri="{FF2B5EF4-FFF2-40B4-BE49-F238E27FC236}">
                    <a16:creationId xmlns:a16="http://schemas.microsoft.com/office/drawing/2014/main" id="{CC7D3551-3C42-D216-E7CC-FECE92D89404}"/>
                  </a:ext>
                </a:extLst>
              </p:cNvPr>
              <p:cNvSpPr txBox="1"/>
              <p:nvPr/>
            </p:nvSpPr>
            <p:spPr>
              <a:xfrm>
                <a:off x="17609" y="1158875"/>
                <a:ext cx="7246791" cy="499808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3359"/>
                  </a:lnSpc>
                  <a:spcBef>
                    <a:spcPct val="0"/>
                  </a:spcBef>
                </a:pPr>
                <a:r>
                  <a:rPr lang="en-US" sz="2400" dirty="0">
                    <a:solidFill>
                      <a:srgbClr val="2F3E4F"/>
                    </a:solidFill>
                    <a:latin typeface="Rubik"/>
                    <a:cs typeface="Rubik"/>
                    <a:sym typeface="Telegraf"/>
                  </a:rPr>
                  <a:t>Average Delay (Non-Rush)</a:t>
                </a:r>
              </a:p>
            </p:txBody>
          </p:sp>
          <p:sp>
            <p:nvSpPr>
              <p:cNvPr id="50" name="AutoShape 6">
                <a:extLst>
                  <a:ext uri="{FF2B5EF4-FFF2-40B4-BE49-F238E27FC236}">
                    <a16:creationId xmlns:a16="http://schemas.microsoft.com/office/drawing/2014/main" id="{8F45AB2E-9CAB-FDCE-CDE7-80AC75C507FD}"/>
                  </a:ext>
                </a:extLst>
              </p:cNvPr>
              <p:cNvSpPr/>
              <p:nvPr/>
            </p:nvSpPr>
            <p:spPr>
              <a:xfrm>
                <a:off x="17611" y="895350"/>
                <a:ext cx="7246789" cy="0"/>
              </a:xfrm>
              <a:prstGeom prst="line">
                <a:avLst/>
              </a:prstGeom>
              <a:ln w="25400" cap="flat">
                <a:solidFill>
                  <a:srgbClr val="AAB7C7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 dirty="0"/>
              </a:p>
            </p:txBody>
          </p:sp>
        </p:grpSp>
        <p:grpSp>
          <p:nvGrpSpPr>
            <p:cNvPr id="44" name="Group 3">
              <a:extLst>
                <a:ext uri="{FF2B5EF4-FFF2-40B4-BE49-F238E27FC236}">
                  <a16:creationId xmlns:a16="http://schemas.microsoft.com/office/drawing/2014/main" id="{00CEAEC9-F4F7-0CDA-08D7-46444EFB5C80}"/>
                </a:ext>
              </a:extLst>
            </p:cNvPr>
            <p:cNvGrpSpPr/>
            <p:nvPr/>
          </p:nvGrpSpPr>
          <p:grpSpPr>
            <a:xfrm>
              <a:off x="9448800" y="2552700"/>
              <a:ext cx="3200400" cy="999675"/>
              <a:chOff x="0" y="325783"/>
              <a:chExt cx="7264400" cy="1332900"/>
            </a:xfrm>
          </p:grpSpPr>
          <p:sp>
            <p:nvSpPr>
              <p:cNvPr id="45" name="TextBox 4">
                <a:extLst>
                  <a:ext uri="{FF2B5EF4-FFF2-40B4-BE49-F238E27FC236}">
                    <a16:creationId xmlns:a16="http://schemas.microsoft.com/office/drawing/2014/main" id="{2FBE27E6-8179-96CE-3219-3FAFF7FFE561}"/>
                  </a:ext>
                </a:extLst>
              </p:cNvPr>
              <p:cNvSpPr txBox="1"/>
              <p:nvPr/>
            </p:nvSpPr>
            <p:spPr>
              <a:xfrm>
                <a:off x="0" y="325783"/>
                <a:ext cx="7264400" cy="545713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3359"/>
                  </a:lnSpc>
                </a:pPr>
                <a:r>
                  <a:rPr lang="en-US" sz="3600" b="1" dirty="0">
                    <a:solidFill>
                      <a:srgbClr val="2F3E4F"/>
                    </a:solidFill>
                    <a:latin typeface="Rubik Bold"/>
                    <a:cs typeface="Rubik Bold"/>
                    <a:sym typeface="TT Ramillas"/>
                  </a:rPr>
                  <a:t>5.00 min</a:t>
                </a:r>
                <a:endParaRPr lang="en-US" sz="2400" b="1" dirty="0">
                  <a:solidFill>
                    <a:srgbClr val="2F3E4F"/>
                  </a:solidFill>
                  <a:latin typeface="Rubik Bold"/>
                  <a:cs typeface="Rubik Bold"/>
                  <a:sym typeface="TT Ramillas"/>
                </a:endParaRPr>
              </a:p>
            </p:txBody>
          </p:sp>
          <p:sp>
            <p:nvSpPr>
              <p:cNvPr id="46" name="TextBox 5">
                <a:extLst>
                  <a:ext uri="{FF2B5EF4-FFF2-40B4-BE49-F238E27FC236}">
                    <a16:creationId xmlns:a16="http://schemas.microsoft.com/office/drawing/2014/main" id="{DE7C15A5-0E65-6AC4-0910-94F9D884CA0B}"/>
                  </a:ext>
                </a:extLst>
              </p:cNvPr>
              <p:cNvSpPr txBox="1"/>
              <p:nvPr/>
            </p:nvSpPr>
            <p:spPr>
              <a:xfrm>
                <a:off x="17609" y="1158875"/>
                <a:ext cx="7246791" cy="499808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3359"/>
                  </a:lnSpc>
                  <a:spcBef>
                    <a:spcPct val="0"/>
                  </a:spcBef>
                </a:pPr>
                <a:r>
                  <a:rPr lang="en-US" sz="2400" dirty="0">
                    <a:solidFill>
                      <a:srgbClr val="2F3E4F"/>
                    </a:solidFill>
                    <a:latin typeface="Rubik"/>
                    <a:cs typeface="Rubik"/>
                    <a:sym typeface="Telegraf"/>
                  </a:rPr>
                  <a:t>Average Delay (Rainy)</a:t>
                </a:r>
              </a:p>
            </p:txBody>
          </p:sp>
          <p:sp>
            <p:nvSpPr>
              <p:cNvPr id="47" name="AutoShape 6">
                <a:extLst>
                  <a:ext uri="{FF2B5EF4-FFF2-40B4-BE49-F238E27FC236}">
                    <a16:creationId xmlns:a16="http://schemas.microsoft.com/office/drawing/2014/main" id="{B3939CC1-4710-2C86-369A-07BA14839467}"/>
                  </a:ext>
                </a:extLst>
              </p:cNvPr>
              <p:cNvSpPr/>
              <p:nvPr/>
            </p:nvSpPr>
            <p:spPr>
              <a:xfrm>
                <a:off x="17611" y="895350"/>
                <a:ext cx="7246789" cy="0"/>
              </a:xfrm>
              <a:prstGeom prst="line">
                <a:avLst/>
              </a:prstGeom>
              <a:ln w="25400" cap="flat">
                <a:solidFill>
                  <a:srgbClr val="AAB7C7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 dirty="0"/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8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6232B9-2CCD-A866-2B3D-2A6DDACB9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roup 2">
            <a:extLst>
              <a:ext uri="{FF2B5EF4-FFF2-40B4-BE49-F238E27FC236}">
                <a16:creationId xmlns:a16="http://schemas.microsoft.com/office/drawing/2014/main" id="{493F8206-FE00-E25B-D754-937E506BBFBB}"/>
              </a:ext>
            </a:extLst>
          </p:cNvPr>
          <p:cNvGrpSpPr/>
          <p:nvPr/>
        </p:nvGrpSpPr>
        <p:grpSpPr>
          <a:xfrm>
            <a:off x="0" y="6934200"/>
            <a:ext cx="18288000" cy="3352800"/>
            <a:chOff x="0" y="0"/>
            <a:chExt cx="4816593" cy="883042"/>
          </a:xfrm>
        </p:grpSpPr>
        <p:sp>
          <p:nvSpPr>
            <p:cNvPr id="63" name="Freeform 3">
              <a:extLst>
                <a:ext uri="{FF2B5EF4-FFF2-40B4-BE49-F238E27FC236}">
                  <a16:creationId xmlns:a16="http://schemas.microsoft.com/office/drawing/2014/main" id="{9BE77962-C520-F64F-D656-06C2A5C18C45}"/>
                </a:ext>
              </a:extLst>
            </p:cNvPr>
            <p:cNvSpPr/>
            <p:nvPr/>
          </p:nvSpPr>
          <p:spPr>
            <a:xfrm>
              <a:off x="0" y="0"/>
              <a:ext cx="4816592" cy="883042"/>
            </a:xfrm>
            <a:custGeom>
              <a:avLst/>
              <a:gdLst/>
              <a:ahLst/>
              <a:cxnLst/>
              <a:rect l="l" t="t" r="r" b="b"/>
              <a:pathLst>
                <a:path w="4816592" h="883042">
                  <a:moveTo>
                    <a:pt x="0" y="0"/>
                  </a:moveTo>
                  <a:lnTo>
                    <a:pt x="4816592" y="0"/>
                  </a:lnTo>
                  <a:lnTo>
                    <a:pt x="4816592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4A6F8A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TextBox 4">
              <a:extLst>
                <a:ext uri="{FF2B5EF4-FFF2-40B4-BE49-F238E27FC236}">
                  <a16:creationId xmlns:a16="http://schemas.microsoft.com/office/drawing/2014/main" id="{772E461D-D5D5-DD98-DDC9-30634823FE81}"/>
                </a:ext>
              </a:extLst>
            </p:cNvPr>
            <p:cNvSpPr txBox="1"/>
            <p:nvPr/>
          </p:nvSpPr>
          <p:spPr>
            <a:xfrm>
              <a:off x="0" y="-57150"/>
              <a:ext cx="4816593" cy="9401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5" name="Group 5">
            <a:extLst>
              <a:ext uri="{FF2B5EF4-FFF2-40B4-BE49-F238E27FC236}">
                <a16:creationId xmlns:a16="http://schemas.microsoft.com/office/drawing/2014/main" id="{2846125F-C120-5490-FD35-BE0FD8C524A9}"/>
              </a:ext>
            </a:extLst>
          </p:cNvPr>
          <p:cNvGrpSpPr/>
          <p:nvPr/>
        </p:nvGrpSpPr>
        <p:grpSpPr>
          <a:xfrm>
            <a:off x="666750" y="666750"/>
            <a:ext cx="16954500" cy="8953500"/>
            <a:chOff x="0" y="0"/>
            <a:chExt cx="4465383" cy="2358123"/>
          </a:xfrm>
        </p:grpSpPr>
        <p:sp>
          <p:nvSpPr>
            <p:cNvPr id="66" name="Freeform 6">
              <a:extLst>
                <a:ext uri="{FF2B5EF4-FFF2-40B4-BE49-F238E27FC236}">
                  <a16:creationId xmlns:a16="http://schemas.microsoft.com/office/drawing/2014/main" id="{11613BC3-1812-8C78-0124-15F938802DBA}"/>
                </a:ext>
              </a:extLst>
            </p:cNvPr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18265" y="0"/>
                  </a:moveTo>
                  <a:lnTo>
                    <a:pt x="4447118" y="0"/>
                  </a:lnTo>
                  <a:cubicBezTo>
                    <a:pt x="4457205" y="0"/>
                    <a:pt x="4465383" y="8178"/>
                    <a:pt x="4465383" y="18265"/>
                  </a:cubicBezTo>
                  <a:lnTo>
                    <a:pt x="4465383" y="2339858"/>
                  </a:lnTo>
                  <a:cubicBezTo>
                    <a:pt x="4465383" y="2349946"/>
                    <a:pt x="4457205" y="2358124"/>
                    <a:pt x="4447118" y="2358124"/>
                  </a:cubicBezTo>
                  <a:lnTo>
                    <a:pt x="18265" y="2358124"/>
                  </a:lnTo>
                  <a:cubicBezTo>
                    <a:pt x="8178" y="2358124"/>
                    <a:pt x="0" y="2349946"/>
                    <a:pt x="0" y="2339858"/>
                  </a:cubicBezTo>
                  <a:lnTo>
                    <a:pt x="0" y="18265"/>
                  </a:lnTo>
                  <a:cubicBezTo>
                    <a:pt x="0" y="8178"/>
                    <a:pt x="8178" y="0"/>
                    <a:pt x="18265" y="0"/>
                  </a:cubicBezTo>
                  <a:close/>
                </a:path>
              </a:pathLst>
            </a:custGeom>
            <a:solidFill>
              <a:srgbClr val="F5F7FA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" name="TextBox 7">
              <a:extLst>
                <a:ext uri="{FF2B5EF4-FFF2-40B4-BE49-F238E27FC236}">
                  <a16:creationId xmlns:a16="http://schemas.microsoft.com/office/drawing/2014/main" id="{4760487E-2FB2-63BA-9B0C-E2E765C2CD74}"/>
                </a:ext>
              </a:extLst>
            </p:cNvPr>
            <p:cNvSpPr txBox="1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DAFEEEA2-896F-4902-FA02-F44BE2F94410}"/>
              </a:ext>
            </a:extLst>
          </p:cNvPr>
          <p:cNvSpPr txBox="1"/>
          <p:nvPr/>
        </p:nvSpPr>
        <p:spPr>
          <a:xfrm>
            <a:off x="1371600" y="1082402"/>
            <a:ext cx="12639675" cy="1013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7920"/>
              </a:lnSpc>
              <a:spcBef>
                <a:spcPct val="0"/>
              </a:spcBef>
            </a:pPr>
            <a:r>
              <a:rPr lang="en-US" sz="6600" b="1" dirty="0">
                <a:solidFill>
                  <a:srgbClr val="2F3E4F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Pipeline Performance</a:t>
            </a:r>
            <a:endParaRPr lang="en-US" sz="6600" b="1" u="none" strike="noStrike" dirty="0">
              <a:solidFill>
                <a:srgbClr val="2F3E4F"/>
              </a:solidFill>
              <a:latin typeface="ITC Motter Corpus Semicondensed"/>
              <a:ea typeface="ITC Motter Corpus Semicondensed"/>
              <a:cs typeface="ITC Motter Corpus Semicondensed"/>
              <a:sym typeface="ITC Motter Corpus Semicondensed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75BEFEE-3170-7CAA-A4FE-D2F7D381E981}"/>
              </a:ext>
            </a:extLst>
          </p:cNvPr>
          <p:cNvGrpSpPr/>
          <p:nvPr/>
        </p:nvGrpSpPr>
        <p:grpSpPr>
          <a:xfrm>
            <a:off x="1516242" y="3009900"/>
            <a:ext cx="14942958" cy="1600200"/>
            <a:chOff x="1516242" y="2552700"/>
            <a:chExt cx="11132958" cy="1481395"/>
          </a:xfrm>
        </p:grpSpPr>
        <p:grpSp>
          <p:nvGrpSpPr>
            <p:cNvPr id="13" name="Group 3">
              <a:extLst>
                <a:ext uri="{FF2B5EF4-FFF2-40B4-BE49-F238E27FC236}">
                  <a16:creationId xmlns:a16="http://schemas.microsoft.com/office/drawing/2014/main" id="{B83303E6-C628-794D-A3FD-02EC97B5F101}"/>
                </a:ext>
              </a:extLst>
            </p:cNvPr>
            <p:cNvGrpSpPr/>
            <p:nvPr/>
          </p:nvGrpSpPr>
          <p:grpSpPr>
            <a:xfrm>
              <a:off x="1516242" y="2568340"/>
              <a:ext cx="3200400" cy="1465755"/>
              <a:chOff x="0" y="325783"/>
              <a:chExt cx="7264400" cy="1954340"/>
            </a:xfrm>
          </p:grpSpPr>
          <p:sp>
            <p:nvSpPr>
              <p:cNvPr id="14" name="TextBox 4">
                <a:extLst>
                  <a:ext uri="{FF2B5EF4-FFF2-40B4-BE49-F238E27FC236}">
                    <a16:creationId xmlns:a16="http://schemas.microsoft.com/office/drawing/2014/main" id="{752F05F5-6FCD-3B4B-6FD9-DBF0F0F84EF9}"/>
                  </a:ext>
                </a:extLst>
              </p:cNvPr>
              <p:cNvSpPr txBox="1"/>
              <p:nvPr/>
            </p:nvSpPr>
            <p:spPr>
              <a:xfrm>
                <a:off x="0" y="325783"/>
                <a:ext cx="7264400" cy="1038002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3359"/>
                  </a:lnSpc>
                </a:pPr>
                <a:r>
                  <a:rPr lang="en-US" sz="3600" b="1" dirty="0">
                    <a:solidFill>
                      <a:srgbClr val="2F3E4F"/>
                    </a:solidFill>
                    <a:latin typeface="Rubik Bold"/>
                    <a:cs typeface="Rubik Bold"/>
                    <a:sym typeface="TT Ramillas"/>
                  </a:rPr>
                  <a:t>647,455</a:t>
                </a:r>
              </a:p>
              <a:p>
                <a:pPr>
                  <a:lnSpc>
                    <a:spcPts val="3359"/>
                  </a:lnSpc>
                </a:pPr>
                <a:endParaRPr lang="en-US" sz="2400" b="1" dirty="0">
                  <a:solidFill>
                    <a:srgbClr val="2F3E4F"/>
                  </a:solidFill>
                  <a:latin typeface="Rubik Bold"/>
                  <a:cs typeface="Rubik Bold"/>
                  <a:sym typeface="TT Ramillas"/>
                </a:endParaRPr>
              </a:p>
            </p:txBody>
          </p:sp>
          <p:sp>
            <p:nvSpPr>
              <p:cNvPr id="15" name="TextBox 5">
                <a:extLst>
                  <a:ext uri="{FF2B5EF4-FFF2-40B4-BE49-F238E27FC236}">
                    <a16:creationId xmlns:a16="http://schemas.microsoft.com/office/drawing/2014/main" id="{5E2514DA-0584-E167-4BEF-832335249D68}"/>
                  </a:ext>
                </a:extLst>
              </p:cNvPr>
              <p:cNvSpPr txBox="1"/>
              <p:nvPr/>
            </p:nvSpPr>
            <p:spPr>
              <a:xfrm>
                <a:off x="17609" y="1158875"/>
                <a:ext cx="7246791" cy="1121248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3359"/>
                  </a:lnSpc>
                  <a:spcBef>
                    <a:spcPct val="0"/>
                  </a:spcBef>
                </a:pPr>
                <a:r>
                  <a:rPr lang="en-US" sz="2400" dirty="0">
                    <a:solidFill>
                      <a:srgbClr val="2F3E4F"/>
                    </a:solidFill>
                    <a:latin typeface="Rubik"/>
                    <a:cs typeface="Rubik"/>
                    <a:sym typeface="Telegraf"/>
                  </a:rPr>
                  <a:t>Integrated Data Records</a:t>
                </a:r>
              </a:p>
            </p:txBody>
          </p:sp>
          <p:sp>
            <p:nvSpPr>
              <p:cNvPr id="16" name="AutoShape 6">
                <a:extLst>
                  <a:ext uri="{FF2B5EF4-FFF2-40B4-BE49-F238E27FC236}">
                    <a16:creationId xmlns:a16="http://schemas.microsoft.com/office/drawing/2014/main" id="{31A33FF8-3DFE-9586-FA24-10B0A5689FB5}"/>
                  </a:ext>
                </a:extLst>
              </p:cNvPr>
              <p:cNvSpPr/>
              <p:nvPr/>
            </p:nvSpPr>
            <p:spPr>
              <a:xfrm>
                <a:off x="17611" y="895350"/>
                <a:ext cx="7246789" cy="0"/>
              </a:xfrm>
              <a:prstGeom prst="line">
                <a:avLst/>
              </a:prstGeom>
              <a:ln w="25400" cap="flat">
                <a:solidFill>
                  <a:srgbClr val="AAB7C7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 dirty="0"/>
              </a:p>
            </p:txBody>
          </p:sp>
        </p:grpSp>
        <p:grpSp>
          <p:nvGrpSpPr>
            <p:cNvPr id="21" name="Group 3">
              <a:extLst>
                <a:ext uri="{FF2B5EF4-FFF2-40B4-BE49-F238E27FC236}">
                  <a16:creationId xmlns:a16="http://schemas.microsoft.com/office/drawing/2014/main" id="{3C41F832-7B57-6D44-440A-72B6FB9CEAD1}"/>
                </a:ext>
              </a:extLst>
            </p:cNvPr>
            <p:cNvGrpSpPr/>
            <p:nvPr/>
          </p:nvGrpSpPr>
          <p:grpSpPr>
            <a:xfrm>
              <a:off x="5486400" y="2568340"/>
              <a:ext cx="3200400" cy="1403321"/>
              <a:chOff x="0" y="325783"/>
              <a:chExt cx="7264400" cy="1871094"/>
            </a:xfrm>
          </p:grpSpPr>
          <p:sp>
            <p:nvSpPr>
              <p:cNvPr id="22" name="TextBox 4">
                <a:extLst>
                  <a:ext uri="{FF2B5EF4-FFF2-40B4-BE49-F238E27FC236}">
                    <a16:creationId xmlns:a16="http://schemas.microsoft.com/office/drawing/2014/main" id="{11B7A13B-2F99-01CB-2C6F-BE454713C37B}"/>
                  </a:ext>
                </a:extLst>
              </p:cNvPr>
              <p:cNvSpPr txBox="1"/>
              <p:nvPr/>
            </p:nvSpPr>
            <p:spPr>
              <a:xfrm>
                <a:off x="0" y="325783"/>
                <a:ext cx="7264400" cy="1038002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3359"/>
                  </a:lnSpc>
                </a:pPr>
                <a:r>
                  <a:rPr lang="en-US" sz="3600" b="1" dirty="0">
                    <a:solidFill>
                      <a:srgbClr val="2F3E4F"/>
                    </a:solidFill>
                    <a:latin typeface="Rubik Bold"/>
                    <a:cs typeface="Rubik Bold"/>
                    <a:sym typeface="TT Ramillas"/>
                  </a:rPr>
                  <a:t>234,144</a:t>
                </a:r>
              </a:p>
              <a:p>
                <a:pPr>
                  <a:lnSpc>
                    <a:spcPts val="3359"/>
                  </a:lnSpc>
                </a:pPr>
                <a:endParaRPr lang="en-US" sz="2400" b="1" dirty="0">
                  <a:solidFill>
                    <a:srgbClr val="2F3E4F"/>
                  </a:solidFill>
                  <a:latin typeface="Rubik Bold"/>
                  <a:cs typeface="Rubik Bold"/>
                  <a:sym typeface="TT Ramillas"/>
                </a:endParaRPr>
              </a:p>
            </p:txBody>
          </p:sp>
          <p:sp>
            <p:nvSpPr>
              <p:cNvPr id="23" name="TextBox 5">
                <a:extLst>
                  <a:ext uri="{FF2B5EF4-FFF2-40B4-BE49-F238E27FC236}">
                    <a16:creationId xmlns:a16="http://schemas.microsoft.com/office/drawing/2014/main" id="{24675B4B-A3B6-8084-E6B6-F60B364B3843}"/>
                  </a:ext>
                </a:extLst>
              </p:cNvPr>
              <p:cNvSpPr txBox="1"/>
              <p:nvPr/>
            </p:nvSpPr>
            <p:spPr>
              <a:xfrm>
                <a:off x="17609" y="1158875"/>
                <a:ext cx="7246791" cy="1038002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3359"/>
                  </a:lnSpc>
                  <a:spcBef>
                    <a:spcPct val="0"/>
                  </a:spcBef>
                </a:pPr>
                <a:r>
                  <a:rPr lang="en-US" sz="2400" dirty="0">
                    <a:solidFill>
                      <a:srgbClr val="2F3E4F"/>
                    </a:solidFill>
                    <a:latin typeface="Rubik"/>
                    <a:cs typeface="Rubik"/>
                    <a:sym typeface="Telegraf"/>
                  </a:rPr>
                  <a:t>Meteorological Observations ingested</a:t>
                </a:r>
              </a:p>
            </p:txBody>
          </p:sp>
          <p:sp>
            <p:nvSpPr>
              <p:cNvPr id="24" name="AutoShape 6">
                <a:extLst>
                  <a:ext uri="{FF2B5EF4-FFF2-40B4-BE49-F238E27FC236}">
                    <a16:creationId xmlns:a16="http://schemas.microsoft.com/office/drawing/2014/main" id="{F73DAF3B-54BB-A7F9-093F-7A77AED9AFD5}"/>
                  </a:ext>
                </a:extLst>
              </p:cNvPr>
              <p:cNvSpPr/>
              <p:nvPr/>
            </p:nvSpPr>
            <p:spPr>
              <a:xfrm>
                <a:off x="17611" y="895350"/>
                <a:ext cx="7246789" cy="0"/>
              </a:xfrm>
              <a:prstGeom prst="line">
                <a:avLst/>
              </a:prstGeom>
              <a:ln w="25400" cap="flat">
                <a:solidFill>
                  <a:srgbClr val="AAB7C7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 dirty="0"/>
              </a:p>
            </p:txBody>
          </p:sp>
        </p:grpSp>
        <p:grpSp>
          <p:nvGrpSpPr>
            <p:cNvPr id="25" name="Group 3">
              <a:extLst>
                <a:ext uri="{FF2B5EF4-FFF2-40B4-BE49-F238E27FC236}">
                  <a16:creationId xmlns:a16="http://schemas.microsoft.com/office/drawing/2014/main" id="{70869633-239F-5247-3527-6F840EC61406}"/>
                </a:ext>
              </a:extLst>
            </p:cNvPr>
            <p:cNvGrpSpPr/>
            <p:nvPr/>
          </p:nvGrpSpPr>
          <p:grpSpPr>
            <a:xfrm>
              <a:off x="9448800" y="2552700"/>
              <a:ext cx="3200400" cy="1465755"/>
              <a:chOff x="0" y="325783"/>
              <a:chExt cx="7264400" cy="1954340"/>
            </a:xfrm>
          </p:grpSpPr>
          <p:sp>
            <p:nvSpPr>
              <p:cNvPr id="26" name="TextBox 4">
                <a:extLst>
                  <a:ext uri="{FF2B5EF4-FFF2-40B4-BE49-F238E27FC236}">
                    <a16:creationId xmlns:a16="http://schemas.microsoft.com/office/drawing/2014/main" id="{47992337-3DB7-757C-130F-CC88F5F50173}"/>
                  </a:ext>
                </a:extLst>
              </p:cNvPr>
              <p:cNvSpPr txBox="1"/>
              <p:nvPr/>
            </p:nvSpPr>
            <p:spPr>
              <a:xfrm>
                <a:off x="0" y="325783"/>
                <a:ext cx="7264400" cy="591872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3359"/>
                  </a:lnSpc>
                </a:pPr>
                <a:r>
                  <a:rPr lang="en-US" sz="3600" b="1" dirty="0">
                    <a:solidFill>
                      <a:srgbClr val="2F3E4F"/>
                    </a:solidFill>
                    <a:latin typeface="Rubik Bold"/>
                    <a:cs typeface="Rubik Bold"/>
                    <a:sym typeface="TT Ramillas"/>
                  </a:rPr>
                  <a:t>881,599</a:t>
                </a:r>
                <a:endParaRPr lang="en-US" sz="2400" b="1" dirty="0">
                  <a:solidFill>
                    <a:srgbClr val="2F3E4F"/>
                  </a:solidFill>
                  <a:latin typeface="Rubik Bold"/>
                  <a:cs typeface="Rubik Bold"/>
                  <a:sym typeface="TT Ramillas"/>
                </a:endParaRPr>
              </a:p>
            </p:txBody>
          </p:sp>
          <p:sp>
            <p:nvSpPr>
              <p:cNvPr id="27" name="TextBox 5">
                <a:extLst>
                  <a:ext uri="{FF2B5EF4-FFF2-40B4-BE49-F238E27FC236}">
                    <a16:creationId xmlns:a16="http://schemas.microsoft.com/office/drawing/2014/main" id="{30219BDE-F26D-719A-ABDC-AC50A8B1C52F}"/>
                  </a:ext>
                </a:extLst>
              </p:cNvPr>
              <p:cNvSpPr txBox="1"/>
              <p:nvPr/>
            </p:nvSpPr>
            <p:spPr>
              <a:xfrm>
                <a:off x="17609" y="1158875"/>
                <a:ext cx="7246791" cy="1121248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3359"/>
                  </a:lnSpc>
                  <a:spcBef>
                    <a:spcPct val="0"/>
                  </a:spcBef>
                </a:pPr>
                <a:r>
                  <a:rPr lang="en-US" sz="2400" dirty="0">
                    <a:solidFill>
                      <a:srgbClr val="2F3E4F"/>
                    </a:solidFill>
                    <a:latin typeface="Rubik"/>
                    <a:cs typeface="Rubik"/>
                    <a:sym typeface="Telegraf"/>
                  </a:rPr>
                  <a:t>Total ingested Records</a:t>
                </a:r>
              </a:p>
            </p:txBody>
          </p:sp>
          <p:sp>
            <p:nvSpPr>
              <p:cNvPr id="28" name="AutoShape 6">
                <a:extLst>
                  <a:ext uri="{FF2B5EF4-FFF2-40B4-BE49-F238E27FC236}">
                    <a16:creationId xmlns:a16="http://schemas.microsoft.com/office/drawing/2014/main" id="{830C2990-E427-4656-B362-603DD31E24FC}"/>
                  </a:ext>
                </a:extLst>
              </p:cNvPr>
              <p:cNvSpPr/>
              <p:nvPr/>
            </p:nvSpPr>
            <p:spPr>
              <a:xfrm>
                <a:off x="17611" y="895350"/>
                <a:ext cx="7246789" cy="0"/>
              </a:xfrm>
              <a:prstGeom prst="line">
                <a:avLst/>
              </a:prstGeom>
              <a:ln w="25400" cap="flat">
                <a:solidFill>
                  <a:srgbClr val="AAB7C7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 dirty="0"/>
              </a:p>
            </p:txBody>
          </p:sp>
        </p:grp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7414E10-61E4-5934-0448-96D53536C45E}"/>
              </a:ext>
            </a:extLst>
          </p:cNvPr>
          <p:cNvGrpSpPr/>
          <p:nvPr/>
        </p:nvGrpSpPr>
        <p:grpSpPr>
          <a:xfrm>
            <a:off x="1524000" y="5448300"/>
            <a:ext cx="14942958" cy="1096741"/>
            <a:chOff x="1516242" y="2552700"/>
            <a:chExt cx="11132958" cy="1015315"/>
          </a:xfrm>
        </p:grpSpPr>
        <p:grpSp>
          <p:nvGrpSpPr>
            <p:cNvPr id="37" name="Group 3">
              <a:extLst>
                <a:ext uri="{FF2B5EF4-FFF2-40B4-BE49-F238E27FC236}">
                  <a16:creationId xmlns:a16="http://schemas.microsoft.com/office/drawing/2014/main" id="{33A9C920-D4E3-C4F6-A796-870F88F43B74}"/>
                </a:ext>
              </a:extLst>
            </p:cNvPr>
            <p:cNvGrpSpPr/>
            <p:nvPr/>
          </p:nvGrpSpPr>
          <p:grpSpPr>
            <a:xfrm>
              <a:off x="1516242" y="2568340"/>
              <a:ext cx="3200400" cy="999675"/>
              <a:chOff x="0" y="325783"/>
              <a:chExt cx="7264400" cy="1332900"/>
            </a:xfrm>
          </p:grpSpPr>
          <p:sp>
            <p:nvSpPr>
              <p:cNvPr id="46" name="TextBox 4">
                <a:extLst>
                  <a:ext uri="{FF2B5EF4-FFF2-40B4-BE49-F238E27FC236}">
                    <a16:creationId xmlns:a16="http://schemas.microsoft.com/office/drawing/2014/main" id="{CFAF852F-DFB6-D935-DAB3-59ED4DF2C577}"/>
                  </a:ext>
                </a:extLst>
              </p:cNvPr>
              <p:cNvSpPr txBox="1"/>
              <p:nvPr/>
            </p:nvSpPr>
            <p:spPr>
              <a:xfrm>
                <a:off x="0" y="325783"/>
                <a:ext cx="7264400" cy="1038002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3359"/>
                  </a:lnSpc>
                </a:pPr>
                <a:r>
                  <a:rPr lang="en-US" sz="3600" b="1" dirty="0">
                    <a:solidFill>
                      <a:srgbClr val="2F3E4F"/>
                    </a:solidFill>
                    <a:latin typeface="Rubik Bold"/>
                    <a:cs typeface="Rubik Bold"/>
                    <a:sym typeface="TT Ramillas"/>
                  </a:rPr>
                  <a:t>0.66 hours</a:t>
                </a:r>
              </a:p>
              <a:p>
                <a:pPr>
                  <a:lnSpc>
                    <a:spcPts val="3359"/>
                  </a:lnSpc>
                </a:pPr>
                <a:endParaRPr lang="en-US" sz="2400" b="1" dirty="0">
                  <a:solidFill>
                    <a:srgbClr val="2F3E4F"/>
                  </a:solidFill>
                  <a:latin typeface="Rubik Bold"/>
                  <a:cs typeface="Rubik Bold"/>
                  <a:sym typeface="TT Ramillas"/>
                </a:endParaRPr>
              </a:p>
            </p:txBody>
          </p:sp>
          <p:sp>
            <p:nvSpPr>
              <p:cNvPr id="47" name="TextBox 5">
                <a:extLst>
                  <a:ext uri="{FF2B5EF4-FFF2-40B4-BE49-F238E27FC236}">
                    <a16:creationId xmlns:a16="http://schemas.microsoft.com/office/drawing/2014/main" id="{12277716-A347-B4E7-2F29-18BB00D12D0D}"/>
                  </a:ext>
                </a:extLst>
              </p:cNvPr>
              <p:cNvSpPr txBox="1"/>
              <p:nvPr/>
            </p:nvSpPr>
            <p:spPr>
              <a:xfrm>
                <a:off x="17609" y="1158875"/>
                <a:ext cx="7246791" cy="499808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3359"/>
                  </a:lnSpc>
                  <a:spcBef>
                    <a:spcPct val="0"/>
                  </a:spcBef>
                </a:pPr>
                <a:r>
                  <a:rPr lang="en-US" sz="2400" dirty="0">
                    <a:solidFill>
                      <a:srgbClr val="2F3E4F"/>
                    </a:solidFill>
                    <a:latin typeface="Rubik"/>
                    <a:cs typeface="Rubik"/>
                    <a:sym typeface="Telegraf"/>
                  </a:rPr>
                  <a:t>Processing Time</a:t>
                </a:r>
              </a:p>
            </p:txBody>
          </p:sp>
          <p:sp>
            <p:nvSpPr>
              <p:cNvPr id="48" name="AutoShape 6">
                <a:extLst>
                  <a:ext uri="{FF2B5EF4-FFF2-40B4-BE49-F238E27FC236}">
                    <a16:creationId xmlns:a16="http://schemas.microsoft.com/office/drawing/2014/main" id="{CFF952D1-6DC1-2EFF-B614-CACC899D1535}"/>
                  </a:ext>
                </a:extLst>
              </p:cNvPr>
              <p:cNvSpPr/>
              <p:nvPr/>
            </p:nvSpPr>
            <p:spPr>
              <a:xfrm>
                <a:off x="17611" y="895350"/>
                <a:ext cx="7246789" cy="0"/>
              </a:xfrm>
              <a:prstGeom prst="line">
                <a:avLst/>
              </a:prstGeom>
              <a:ln w="25400" cap="flat">
                <a:solidFill>
                  <a:srgbClr val="AAB7C7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 dirty="0"/>
              </a:p>
            </p:txBody>
          </p:sp>
        </p:grpSp>
        <p:grpSp>
          <p:nvGrpSpPr>
            <p:cNvPr id="38" name="Group 3">
              <a:extLst>
                <a:ext uri="{FF2B5EF4-FFF2-40B4-BE49-F238E27FC236}">
                  <a16:creationId xmlns:a16="http://schemas.microsoft.com/office/drawing/2014/main" id="{610378E6-053A-9596-BB35-17A9D6A5C47F}"/>
                </a:ext>
              </a:extLst>
            </p:cNvPr>
            <p:cNvGrpSpPr/>
            <p:nvPr/>
          </p:nvGrpSpPr>
          <p:grpSpPr>
            <a:xfrm>
              <a:off x="5486400" y="2568340"/>
              <a:ext cx="3200400" cy="999675"/>
              <a:chOff x="0" y="325783"/>
              <a:chExt cx="7264400" cy="1332900"/>
            </a:xfrm>
          </p:grpSpPr>
          <p:sp>
            <p:nvSpPr>
              <p:cNvPr id="43" name="TextBox 4">
                <a:extLst>
                  <a:ext uri="{FF2B5EF4-FFF2-40B4-BE49-F238E27FC236}">
                    <a16:creationId xmlns:a16="http://schemas.microsoft.com/office/drawing/2014/main" id="{8E4D1D05-0A1D-ADC0-7759-EB153D32A8D8}"/>
                  </a:ext>
                </a:extLst>
              </p:cNvPr>
              <p:cNvSpPr txBox="1"/>
              <p:nvPr/>
            </p:nvSpPr>
            <p:spPr>
              <a:xfrm>
                <a:off x="0" y="325783"/>
                <a:ext cx="7264400" cy="1038002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3359"/>
                  </a:lnSpc>
                </a:pPr>
                <a:r>
                  <a:rPr lang="en-US" sz="3600" b="1" dirty="0">
                    <a:solidFill>
                      <a:srgbClr val="2F3E4F"/>
                    </a:solidFill>
                    <a:latin typeface="Rubik Bold"/>
                    <a:cs typeface="Rubik Bold"/>
                    <a:sym typeface="TT Ramillas"/>
                  </a:rPr>
                  <a:t>371 records/sec</a:t>
                </a:r>
              </a:p>
              <a:p>
                <a:pPr>
                  <a:lnSpc>
                    <a:spcPts val="3359"/>
                  </a:lnSpc>
                </a:pPr>
                <a:endParaRPr lang="en-US" sz="2400" b="1" dirty="0">
                  <a:solidFill>
                    <a:srgbClr val="2F3E4F"/>
                  </a:solidFill>
                  <a:latin typeface="Rubik Bold"/>
                  <a:cs typeface="Rubik Bold"/>
                  <a:sym typeface="TT Ramillas"/>
                </a:endParaRPr>
              </a:p>
            </p:txBody>
          </p:sp>
          <p:sp>
            <p:nvSpPr>
              <p:cNvPr id="44" name="TextBox 5">
                <a:extLst>
                  <a:ext uri="{FF2B5EF4-FFF2-40B4-BE49-F238E27FC236}">
                    <a16:creationId xmlns:a16="http://schemas.microsoft.com/office/drawing/2014/main" id="{25C6EA0A-9183-5D4B-7CFA-C576598F25D9}"/>
                  </a:ext>
                </a:extLst>
              </p:cNvPr>
              <p:cNvSpPr txBox="1"/>
              <p:nvPr/>
            </p:nvSpPr>
            <p:spPr>
              <a:xfrm>
                <a:off x="17609" y="1158875"/>
                <a:ext cx="7246791" cy="499808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3359"/>
                  </a:lnSpc>
                  <a:spcBef>
                    <a:spcPct val="0"/>
                  </a:spcBef>
                </a:pPr>
                <a:r>
                  <a:rPr lang="en-US" sz="2400" dirty="0">
                    <a:solidFill>
                      <a:srgbClr val="2F3E4F"/>
                    </a:solidFill>
                    <a:latin typeface="Rubik"/>
                    <a:cs typeface="Rubik"/>
                    <a:sym typeface="Telegraf"/>
                  </a:rPr>
                  <a:t>Throughput</a:t>
                </a:r>
              </a:p>
            </p:txBody>
          </p:sp>
          <p:sp>
            <p:nvSpPr>
              <p:cNvPr id="45" name="AutoShape 6">
                <a:extLst>
                  <a:ext uri="{FF2B5EF4-FFF2-40B4-BE49-F238E27FC236}">
                    <a16:creationId xmlns:a16="http://schemas.microsoft.com/office/drawing/2014/main" id="{05A6FAD6-0D7B-B903-9DDC-EC8A2D1DC4DF}"/>
                  </a:ext>
                </a:extLst>
              </p:cNvPr>
              <p:cNvSpPr/>
              <p:nvPr/>
            </p:nvSpPr>
            <p:spPr>
              <a:xfrm>
                <a:off x="17611" y="895350"/>
                <a:ext cx="7246789" cy="0"/>
              </a:xfrm>
              <a:prstGeom prst="line">
                <a:avLst/>
              </a:prstGeom>
              <a:ln w="25400" cap="flat">
                <a:solidFill>
                  <a:srgbClr val="AAB7C7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 dirty="0"/>
              </a:p>
            </p:txBody>
          </p:sp>
        </p:grpSp>
        <p:grpSp>
          <p:nvGrpSpPr>
            <p:cNvPr id="39" name="Group 3">
              <a:extLst>
                <a:ext uri="{FF2B5EF4-FFF2-40B4-BE49-F238E27FC236}">
                  <a16:creationId xmlns:a16="http://schemas.microsoft.com/office/drawing/2014/main" id="{54B18390-061F-7597-EA3E-42C8800C5463}"/>
                </a:ext>
              </a:extLst>
            </p:cNvPr>
            <p:cNvGrpSpPr/>
            <p:nvPr/>
          </p:nvGrpSpPr>
          <p:grpSpPr>
            <a:xfrm>
              <a:off x="9448800" y="2552700"/>
              <a:ext cx="3200400" cy="999675"/>
              <a:chOff x="0" y="325783"/>
              <a:chExt cx="7264400" cy="1332900"/>
            </a:xfrm>
          </p:grpSpPr>
          <p:sp>
            <p:nvSpPr>
              <p:cNvPr id="40" name="TextBox 4">
                <a:extLst>
                  <a:ext uri="{FF2B5EF4-FFF2-40B4-BE49-F238E27FC236}">
                    <a16:creationId xmlns:a16="http://schemas.microsoft.com/office/drawing/2014/main" id="{6B3113AF-52A7-191E-98EA-26DDE4360A89}"/>
                  </a:ext>
                </a:extLst>
              </p:cNvPr>
              <p:cNvSpPr txBox="1"/>
              <p:nvPr/>
            </p:nvSpPr>
            <p:spPr>
              <a:xfrm>
                <a:off x="0" y="325783"/>
                <a:ext cx="7264400" cy="547929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3359"/>
                  </a:lnSpc>
                </a:pPr>
                <a:r>
                  <a:rPr lang="en-US" sz="3600" b="1" dirty="0">
                    <a:solidFill>
                      <a:srgbClr val="2F3E4F"/>
                    </a:solidFill>
                    <a:latin typeface="Rubik Bold"/>
                    <a:cs typeface="Rubik Bold"/>
                    <a:sym typeface="TT Ramillas"/>
                  </a:rPr>
                  <a:t>90</a:t>
                </a:r>
                <a:endParaRPr lang="en-US" sz="2400" b="1" dirty="0">
                  <a:solidFill>
                    <a:srgbClr val="2F3E4F"/>
                  </a:solidFill>
                  <a:latin typeface="Rubik Bold"/>
                  <a:cs typeface="Rubik Bold"/>
                  <a:sym typeface="TT Ramillas"/>
                </a:endParaRPr>
              </a:p>
            </p:txBody>
          </p:sp>
          <p:sp>
            <p:nvSpPr>
              <p:cNvPr id="41" name="TextBox 5">
                <a:extLst>
                  <a:ext uri="{FF2B5EF4-FFF2-40B4-BE49-F238E27FC236}">
                    <a16:creationId xmlns:a16="http://schemas.microsoft.com/office/drawing/2014/main" id="{417EE779-3477-C0D6-DF5A-C9F44B29F672}"/>
                  </a:ext>
                </a:extLst>
              </p:cNvPr>
              <p:cNvSpPr txBox="1"/>
              <p:nvPr/>
            </p:nvSpPr>
            <p:spPr>
              <a:xfrm>
                <a:off x="17609" y="1158875"/>
                <a:ext cx="7246791" cy="499808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3359"/>
                  </a:lnSpc>
                  <a:spcBef>
                    <a:spcPct val="0"/>
                  </a:spcBef>
                </a:pPr>
                <a:r>
                  <a:rPr lang="en-US" sz="2400" dirty="0">
                    <a:solidFill>
                      <a:srgbClr val="2F3E4F"/>
                    </a:solidFill>
                    <a:latin typeface="Rubik"/>
                    <a:cs typeface="Rubik"/>
                    <a:sym typeface="Telegraf"/>
                  </a:rPr>
                  <a:t>90 parallel tasks</a:t>
                </a:r>
              </a:p>
            </p:txBody>
          </p:sp>
          <p:sp>
            <p:nvSpPr>
              <p:cNvPr id="42" name="AutoShape 6">
                <a:extLst>
                  <a:ext uri="{FF2B5EF4-FFF2-40B4-BE49-F238E27FC236}">
                    <a16:creationId xmlns:a16="http://schemas.microsoft.com/office/drawing/2014/main" id="{8AA1484C-EF9F-FD8B-DE5B-93F91BD070E6}"/>
                  </a:ext>
                </a:extLst>
              </p:cNvPr>
              <p:cNvSpPr/>
              <p:nvPr/>
            </p:nvSpPr>
            <p:spPr>
              <a:xfrm>
                <a:off x="17611" y="895350"/>
                <a:ext cx="7246789" cy="0"/>
              </a:xfrm>
              <a:prstGeom prst="line">
                <a:avLst/>
              </a:prstGeom>
              <a:ln w="25400" cap="flat">
                <a:solidFill>
                  <a:srgbClr val="AAB7C7"/>
                </a:solidFill>
                <a:prstDash val="solid"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en-US" dirty="0"/>
              </a:p>
            </p:txBody>
          </p:sp>
        </p:grpSp>
      </p:grpSp>
      <p:grpSp>
        <p:nvGrpSpPr>
          <p:cNvPr id="50" name="Group 3">
            <a:extLst>
              <a:ext uri="{FF2B5EF4-FFF2-40B4-BE49-F238E27FC236}">
                <a16:creationId xmlns:a16="http://schemas.microsoft.com/office/drawing/2014/main" id="{AB713CA7-2C31-78A7-AD25-D925F2BFEB95}"/>
              </a:ext>
            </a:extLst>
          </p:cNvPr>
          <p:cNvGrpSpPr/>
          <p:nvPr/>
        </p:nvGrpSpPr>
        <p:grpSpPr>
          <a:xfrm>
            <a:off x="1524000" y="7721253"/>
            <a:ext cx="4295664" cy="1079847"/>
            <a:chOff x="0" y="325783"/>
            <a:chExt cx="7264400" cy="1332900"/>
          </a:xfrm>
        </p:grpSpPr>
        <p:sp>
          <p:nvSpPr>
            <p:cNvPr id="59" name="TextBox 4">
              <a:extLst>
                <a:ext uri="{FF2B5EF4-FFF2-40B4-BE49-F238E27FC236}">
                  <a16:creationId xmlns:a16="http://schemas.microsoft.com/office/drawing/2014/main" id="{7C281481-F957-19C0-6FDA-2A5C5A508167}"/>
                </a:ext>
              </a:extLst>
            </p:cNvPr>
            <p:cNvSpPr txBox="1"/>
            <p:nvPr/>
          </p:nvSpPr>
          <p:spPr>
            <a:xfrm>
              <a:off x="0" y="325783"/>
              <a:ext cx="7264400" cy="10380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sz="3600" b="1" dirty="0">
                  <a:solidFill>
                    <a:srgbClr val="2F3E4F"/>
                  </a:solidFill>
                  <a:latin typeface="Rubik Bold"/>
                  <a:cs typeface="Rubik Bold"/>
                  <a:sym typeface="TT Ramillas"/>
                </a:rPr>
                <a:t>100%</a:t>
              </a:r>
            </a:p>
            <a:p>
              <a:pPr>
                <a:lnSpc>
                  <a:spcPts val="3359"/>
                </a:lnSpc>
              </a:pPr>
              <a:endParaRPr lang="en-US" sz="2400" b="1" dirty="0">
                <a:solidFill>
                  <a:srgbClr val="2F3E4F"/>
                </a:solidFill>
                <a:latin typeface="Rubik Bold"/>
                <a:cs typeface="Rubik Bold"/>
                <a:sym typeface="TT Ramillas"/>
              </a:endParaRPr>
            </a:p>
          </p:txBody>
        </p:sp>
        <p:sp>
          <p:nvSpPr>
            <p:cNvPr id="60" name="TextBox 5">
              <a:extLst>
                <a:ext uri="{FF2B5EF4-FFF2-40B4-BE49-F238E27FC236}">
                  <a16:creationId xmlns:a16="http://schemas.microsoft.com/office/drawing/2014/main" id="{4A094C8C-1239-58E6-8046-6968B21F1871}"/>
                </a:ext>
              </a:extLst>
            </p:cNvPr>
            <p:cNvSpPr txBox="1"/>
            <p:nvPr/>
          </p:nvSpPr>
          <p:spPr>
            <a:xfrm>
              <a:off x="17609" y="1158875"/>
              <a:ext cx="7246791" cy="4998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2F3E4F"/>
                  </a:solidFill>
                  <a:latin typeface="Rubik"/>
                  <a:cs typeface="Rubik"/>
                  <a:sym typeface="Telegraf"/>
                </a:rPr>
                <a:t>Task Success rate</a:t>
              </a:r>
            </a:p>
          </p:txBody>
        </p:sp>
        <p:sp>
          <p:nvSpPr>
            <p:cNvPr id="61" name="AutoShape 6">
              <a:extLst>
                <a:ext uri="{FF2B5EF4-FFF2-40B4-BE49-F238E27FC236}">
                  <a16:creationId xmlns:a16="http://schemas.microsoft.com/office/drawing/2014/main" id="{311D5FF9-56B9-1EBE-4848-54B7AA0F35A5}"/>
                </a:ext>
              </a:extLst>
            </p:cNvPr>
            <p:cNvSpPr/>
            <p:nvPr/>
          </p:nvSpPr>
          <p:spPr>
            <a:xfrm>
              <a:off x="17611" y="895350"/>
              <a:ext cx="7246789" cy="0"/>
            </a:xfrm>
            <a:prstGeom prst="line">
              <a:avLst/>
            </a:prstGeom>
            <a:ln w="25400" cap="flat">
              <a:solidFill>
                <a:srgbClr val="AAB7C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51" name="Group 3">
            <a:extLst>
              <a:ext uri="{FF2B5EF4-FFF2-40B4-BE49-F238E27FC236}">
                <a16:creationId xmlns:a16="http://schemas.microsoft.com/office/drawing/2014/main" id="{DE3CD0C8-B377-2A30-B0D5-C099CF5B2E5A}"/>
              </a:ext>
            </a:extLst>
          </p:cNvPr>
          <p:cNvGrpSpPr/>
          <p:nvPr/>
        </p:nvGrpSpPr>
        <p:grpSpPr>
          <a:xfrm>
            <a:off x="6852854" y="7721253"/>
            <a:ext cx="4295664" cy="1079847"/>
            <a:chOff x="0" y="325783"/>
            <a:chExt cx="7264400" cy="1332900"/>
          </a:xfrm>
        </p:grpSpPr>
        <p:sp>
          <p:nvSpPr>
            <p:cNvPr id="56" name="TextBox 4">
              <a:extLst>
                <a:ext uri="{FF2B5EF4-FFF2-40B4-BE49-F238E27FC236}">
                  <a16:creationId xmlns:a16="http://schemas.microsoft.com/office/drawing/2014/main" id="{0885CBC1-D4AF-FAF0-DBF0-A51B4C667228}"/>
                </a:ext>
              </a:extLst>
            </p:cNvPr>
            <p:cNvSpPr txBox="1"/>
            <p:nvPr/>
          </p:nvSpPr>
          <p:spPr>
            <a:xfrm>
              <a:off x="0" y="325783"/>
              <a:ext cx="7264400" cy="10380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sz="3600" b="1" dirty="0">
                  <a:solidFill>
                    <a:srgbClr val="2F3E4F"/>
                  </a:solidFill>
                  <a:latin typeface="Rubik Bold"/>
                  <a:cs typeface="Rubik Bold"/>
                  <a:sym typeface="TT Ramillas"/>
                </a:rPr>
                <a:t>98.8%</a:t>
              </a:r>
            </a:p>
            <a:p>
              <a:pPr>
                <a:lnSpc>
                  <a:spcPts val="3359"/>
                </a:lnSpc>
              </a:pPr>
              <a:endParaRPr lang="en-US" sz="2400" b="1" dirty="0">
                <a:solidFill>
                  <a:srgbClr val="2F3E4F"/>
                </a:solidFill>
                <a:latin typeface="Rubik Bold"/>
                <a:cs typeface="Rubik Bold"/>
                <a:sym typeface="TT Ramillas"/>
              </a:endParaRPr>
            </a:p>
          </p:txBody>
        </p:sp>
        <p:sp>
          <p:nvSpPr>
            <p:cNvPr id="57" name="TextBox 5">
              <a:extLst>
                <a:ext uri="{FF2B5EF4-FFF2-40B4-BE49-F238E27FC236}">
                  <a16:creationId xmlns:a16="http://schemas.microsoft.com/office/drawing/2014/main" id="{EA40F0F5-CF32-C6B7-C160-D59A808AB5A9}"/>
                </a:ext>
              </a:extLst>
            </p:cNvPr>
            <p:cNvSpPr txBox="1"/>
            <p:nvPr/>
          </p:nvSpPr>
          <p:spPr>
            <a:xfrm>
              <a:off x="17609" y="1158875"/>
              <a:ext cx="7246791" cy="4998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2F3E4F"/>
                  </a:solidFill>
                  <a:latin typeface="Rubik"/>
                  <a:cs typeface="Rubik"/>
                  <a:sym typeface="Telegraf"/>
                </a:rPr>
                <a:t>Data alignment</a:t>
              </a:r>
            </a:p>
          </p:txBody>
        </p:sp>
        <p:sp>
          <p:nvSpPr>
            <p:cNvPr id="58" name="AutoShape 6">
              <a:extLst>
                <a:ext uri="{FF2B5EF4-FFF2-40B4-BE49-F238E27FC236}">
                  <a16:creationId xmlns:a16="http://schemas.microsoft.com/office/drawing/2014/main" id="{D3A3A088-2959-3F76-6A0B-9B54D48DDEEC}"/>
                </a:ext>
              </a:extLst>
            </p:cNvPr>
            <p:cNvSpPr/>
            <p:nvPr/>
          </p:nvSpPr>
          <p:spPr>
            <a:xfrm>
              <a:off x="17611" y="895350"/>
              <a:ext cx="7246789" cy="0"/>
            </a:xfrm>
            <a:prstGeom prst="line">
              <a:avLst/>
            </a:prstGeom>
            <a:ln w="25400" cap="flat">
              <a:solidFill>
                <a:srgbClr val="AAB7C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52" name="Group 3">
            <a:extLst>
              <a:ext uri="{FF2B5EF4-FFF2-40B4-BE49-F238E27FC236}">
                <a16:creationId xmlns:a16="http://schemas.microsoft.com/office/drawing/2014/main" id="{36D81ED1-F525-B081-F6B8-D9E8B1121A1A}"/>
              </a:ext>
            </a:extLst>
          </p:cNvPr>
          <p:cNvGrpSpPr/>
          <p:nvPr/>
        </p:nvGrpSpPr>
        <p:grpSpPr>
          <a:xfrm>
            <a:off x="12171294" y="7704359"/>
            <a:ext cx="4973706" cy="1515864"/>
            <a:chOff x="0" y="325783"/>
            <a:chExt cx="7264400" cy="1871094"/>
          </a:xfrm>
        </p:grpSpPr>
        <p:sp>
          <p:nvSpPr>
            <p:cNvPr id="53" name="TextBox 4">
              <a:extLst>
                <a:ext uri="{FF2B5EF4-FFF2-40B4-BE49-F238E27FC236}">
                  <a16:creationId xmlns:a16="http://schemas.microsoft.com/office/drawing/2014/main" id="{80890724-F4A4-8201-BE2A-79CBC731AB0B}"/>
                </a:ext>
              </a:extLst>
            </p:cNvPr>
            <p:cNvSpPr txBox="1"/>
            <p:nvPr/>
          </p:nvSpPr>
          <p:spPr>
            <a:xfrm>
              <a:off x="0" y="325783"/>
              <a:ext cx="7264400" cy="15761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sz="3200" b="1" dirty="0">
                  <a:solidFill>
                    <a:srgbClr val="2F3E4F"/>
                  </a:solidFill>
                  <a:latin typeface="Rubik Bold"/>
                  <a:cs typeface="Rubik Bold"/>
                  <a:sym typeface="TT Ramillas"/>
                </a:rPr>
                <a:t>1,335,600 records/hour</a:t>
              </a:r>
            </a:p>
            <a:p>
              <a:pPr algn="ctr">
                <a:lnSpc>
                  <a:spcPts val="3359"/>
                </a:lnSpc>
              </a:pPr>
              <a:endParaRPr lang="en-US" sz="2400" b="1" dirty="0">
                <a:solidFill>
                  <a:srgbClr val="2F3E4F"/>
                </a:solidFill>
                <a:latin typeface="Rubik Bold"/>
                <a:cs typeface="Rubik Bold"/>
                <a:sym typeface="TT Ramillas"/>
              </a:endParaRPr>
            </a:p>
          </p:txBody>
        </p:sp>
        <p:sp>
          <p:nvSpPr>
            <p:cNvPr id="54" name="TextBox 5">
              <a:extLst>
                <a:ext uri="{FF2B5EF4-FFF2-40B4-BE49-F238E27FC236}">
                  <a16:creationId xmlns:a16="http://schemas.microsoft.com/office/drawing/2014/main" id="{7141D4AF-E989-268D-F07F-E60AFEE0CD1C}"/>
                </a:ext>
              </a:extLst>
            </p:cNvPr>
            <p:cNvSpPr txBox="1"/>
            <p:nvPr/>
          </p:nvSpPr>
          <p:spPr>
            <a:xfrm>
              <a:off x="17609" y="1158875"/>
              <a:ext cx="7246791" cy="10380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2F3E4F"/>
                  </a:solidFill>
                  <a:latin typeface="Rubik"/>
                  <a:cs typeface="Rubik"/>
                  <a:sym typeface="Telegraf"/>
                </a:rPr>
                <a:t>Estimated Max Ingestion Capacity</a:t>
              </a:r>
            </a:p>
          </p:txBody>
        </p:sp>
        <p:sp>
          <p:nvSpPr>
            <p:cNvPr id="55" name="AutoShape 6">
              <a:extLst>
                <a:ext uri="{FF2B5EF4-FFF2-40B4-BE49-F238E27FC236}">
                  <a16:creationId xmlns:a16="http://schemas.microsoft.com/office/drawing/2014/main" id="{84276946-A00A-CBE5-CE6F-33922DEFC51C}"/>
                </a:ext>
              </a:extLst>
            </p:cNvPr>
            <p:cNvSpPr/>
            <p:nvPr/>
          </p:nvSpPr>
          <p:spPr>
            <a:xfrm>
              <a:off x="17611" y="895350"/>
              <a:ext cx="7246789" cy="0"/>
            </a:xfrm>
            <a:prstGeom prst="line">
              <a:avLst/>
            </a:prstGeom>
            <a:ln w="25400" cap="flat">
              <a:solidFill>
                <a:srgbClr val="AAB7C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150806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666750" y="533400"/>
            <a:ext cx="15516225" cy="1013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  <a:spcBef>
                <a:spcPct val="0"/>
              </a:spcBef>
            </a:pPr>
            <a:r>
              <a:rPr lang="en-US" sz="6600" b="1" u="none" strike="noStrike" dirty="0">
                <a:solidFill>
                  <a:srgbClr val="2F3E4F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Exploratory Data Analysis - 1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149D135-EEB3-41C0-D78D-2568D474377D}"/>
              </a:ext>
            </a:extLst>
          </p:cNvPr>
          <p:cNvSpPr/>
          <p:nvPr/>
        </p:nvSpPr>
        <p:spPr>
          <a:xfrm>
            <a:off x="1447800" y="1828800"/>
            <a:ext cx="15240000" cy="8115300"/>
          </a:xfrm>
          <a:prstGeom prst="roundRect">
            <a:avLst>
              <a:gd name="adj" fmla="val 4711"/>
            </a:avLst>
          </a:prstGeom>
          <a:blipFill>
            <a:blip r:embed="rId2"/>
            <a:stretch>
              <a:fillRect t="-128" b="-128"/>
            </a:stretch>
          </a:blipFill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8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79E13D-7166-D6A8-6805-B844465A0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779DBC7A-7451-BA90-3E1B-EE8EFF34BF43}"/>
              </a:ext>
            </a:extLst>
          </p:cNvPr>
          <p:cNvSpPr txBox="1"/>
          <p:nvPr/>
        </p:nvSpPr>
        <p:spPr>
          <a:xfrm>
            <a:off x="666750" y="533400"/>
            <a:ext cx="15516225" cy="113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  <a:spcBef>
                <a:spcPct val="0"/>
              </a:spcBef>
            </a:pPr>
            <a:r>
              <a:rPr lang="en-US" sz="6600" b="1" u="none" strike="noStrike">
                <a:solidFill>
                  <a:srgbClr val="2F3E4F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Exploratory Data Analysis - 2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DA0A9BE-C111-925B-FFFE-58A2CFD4BFA3}"/>
              </a:ext>
            </a:extLst>
          </p:cNvPr>
          <p:cNvSpPr/>
          <p:nvPr/>
        </p:nvSpPr>
        <p:spPr>
          <a:xfrm>
            <a:off x="952500" y="1943100"/>
            <a:ext cx="16383000" cy="8001000"/>
          </a:xfrm>
          <a:prstGeom prst="roundRect">
            <a:avLst>
              <a:gd name="adj" fmla="val 3782"/>
            </a:avLst>
          </a:prstGeom>
          <a:blipFill>
            <a:blip r:embed="rId2"/>
            <a:stretch>
              <a:fillRect t="-128" b="-128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9343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6934200"/>
            <a:ext cx="18288000" cy="3352800"/>
            <a:chOff x="0" y="0"/>
            <a:chExt cx="4816593" cy="8830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883042"/>
            </a:xfrm>
            <a:custGeom>
              <a:avLst/>
              <a:gdLst/>
              <a:ahLst/>
              <a:cxnLst/>
              <a:rect l="l" t="t" r="r" b="b"/>
              <a:pathLst>
                <a:path w="4816592" h="883042">
                  <a:moveTo>
                    <a:pt x="0" y="0"/>
                  </a:moveTo>
                  <a:lnTo>
                    <a:pt x="4816592" y="0"/>
                  </a:lnTo>
                  <a:lnTo>
                    <a:pt x="4816592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7388A2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9401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666750"/>
            <a:ext cx="16954500" cy="8953500"/>
            <a:chOff x="0" y="0"/>
            <a:chExt cx="4465383" cy="23581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18265" y="0"/>
                  </a:moveTo>
                  <a:lnTo>
                    <a:pt x="4447118" y="0"/>
                  </a:lnTo>
                  <a:cubicBezTo>
                    <a:pt x="4457205" y="0"/>
                    <a:pt x="4465383" y="8178"/>
                    <a:pt x="4465383" y="18265"/>
                  </a:cubicBezTo>
                  <a:lnTo>
                    <a:pt x="4465383" y="2339858"/>
                  </a:lnTo>
                  <a:cubicBezTo>
                    <a:pt x="4465383" y="2349946"/>
                    <a:pt x="4457205" y="2358124"/>
                    <a:pt x="4447118" y="2358124"/>
                  </a:cubicBezTo>
                  <a:lnTo>
                    <a:pt x="18265" y="2358124"/>
                  </a:lnTo>
                  <a:cubicBezTo>
                    <a:pt x="8178" y="2358124"/>
                    <a:pt x="0" y="2349946"/>
                    <a:pt x="0" y="2339858"/>
                  </a:cubicBezTo>
                  <a:lnTo>
                    <a:pt x="0" y="18265"/>
                  </a:lnTo>
                  <a:cubicBezTo>
                    <a:pt x="0" y="8178"/>
                    <a:pt x="8178" y="0"/>
                    <a:pt x="18265" y="0"/>
                  </a:cubicBezTo>
                  <a:close/>
                </a:path>
              </a:pathLst>
            </a:custGeom>
            <a:solidFill>
              <a:srgbClr val="E1E8F0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105025" y="1462088"/>
            <a:ext cx="12639675" cy="1100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  <a:spcBef>
                <a:spcPct val="0"/>
              </a:spcBef>
            </a:pPr>
            <a:r>
              <a:rPr lang="en-US" sz="6600" b="1" u="none" strike="noStrike" dirty="0">
                <a:solidFill>
                  <a:srgbClr val="2F3E4F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Future Developments</a:t>
            </a:r>
          </a:p>
        </p:txBody>
      </p:sp>
      <p:grpSp>
        <p:nvGrpSpPr>
          <p:cNvPr id="15" name="Group 17">
            <a:extLst>
              <a:ext uri="{FF2B5EF4-FFF2-40B4-BE49-F238E27FC236}">
                <a16:creationId xmlns:a16="http://schemas.microsoft.com/office/drawing/2014/main" id="{9180A030-44B0-5F2D-30DB-FA69880324F5}"/>
              </a:ext>
            </a:extLst>
          </p:cNvPr>
          <p:cNvGrpSpPr/>
          <p:nvPr/>
        </p:nvGrpSpPr>
        <p:grpSpPr>
          <a:xfrm>
            <a:off x="2105024" y="2909888"/>
            <a:ext cx="12639673" cy="1492447"/>
            <a:chOff x="0" y="-57150"/>
            <a:chExt cx="11099800" cy="1989929"/>
          </a:xfrm>
        </p:grpSpPr>
        <p:sp>
          <p:nvSpPr>
            <p:cNvPr id="16" name="TextBox 18">
              <a:extLst>
                <a:ext uri="{FF2B5EF4-FFF2-40B4-BE49-F238E27FC236}">
                  <a16:creationId xmlns:a16="http://schemas.microsoft.com/office/drawing/2014/main" id="{5C3BF0E9-02E2-B467-F868-1208F5182A71}"/>
                </a:ext>
              </a:extLst>
            </p:cNvPr>
            <p:cNvSpPr txBox="1"/>
            <p:nvPr/>
          </p:nvSpPr>
          <p:spPr>
            <a:xfrm>
              <a:off x="0" y="811531"/>
              <a:ext cx="11099800" cy="11212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3359"/>
                </a:lnSpc>
              </a:pPr>
              <a:r>
                <a:rPr lang="en-US" sz="2400" dirty="0">
                  <a:solidFill>
                    <a:srgbClr val="2F3E4F"/>
                  </a:solidFill>
                  <a:latin typeface="Rubik"/>
                  <a:cs typeface="Rubik"/>
                </a:rPr>
                <a:t>Introduction of real-time data processing, streaming capabilities, operational dashboards, and automated analytical pipelines.</a:t>
              </a:r>
              <a:endParaRPr lang="en-US" sz="2400" dirty="0">
                <a:solidFill>
                  <a:srgbClr val="2F3E4F"/>
                </a:solidFill>
                <a:latin typeface="Rubik"/>
                <a:cs typeface="Rubik"/>
                <a:sym typeface="Rubik"/>
              </a:endParaRPr>
            </a:p>
          </p:txBody>
        </p:sp>
        <p:sp>
          <p:nvSpPr>
            <p:cNvPr id="17" name="TextBox 19">
              <a:extLst>
                <a:ext uri="{FF2B5EF4-FFF2-40B4-BE49-F238E27FC236}">
                  <a16:creationId xmlns:a16="http://schemas.microsoft.com/office/drawing/2014/main" id="{DD45CD14-18E0-EF72-4B4C-FB3F00522294}"/>
                </a:ext>
              </a:extLst>
            </p:cNvPr>
            <p:cNvSpPr txBox="1"/>
            <p:nvPr/>
          </p:nvSpPr>
          <p:spPr>
            <a:xfrm>
              <a:off x="0" y="-57150"/>
              <a:ext cx="11099800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3359"/>
                </a:lnSpc>
              </a:pPr>
              <a:r>
                <a:rPr lang="en-US" sz="2400" b="1" dirty="0">
                  <a:solidFill>
                    <a:srgbClr val="2F3E4F"/>
                  </a:solidFill>
                  <a:latin typeface="Rubik Bold"/>
                  <a:ea typeface="Rubik Bold"/>
                  <a:cs typeface="Rubik Bold"/>
                  <a:sym typeface="Rubik Bold"/>
                </a:rPr>
                <a:t>Short term Enhancements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B3F48CA-5328-9E74-F4CB-6A7EF5807A93}"/>
              </a:ext>
            </a:extLst>
          </p:cNvPr>
          <p:cNvGrpSpPr/>
          <p:nvPr/>
        </p:nvGrpSpPr>
        <p:grpSpPr>
          <a:xfrm>
            <a:off x="2105024" y="4794053"/>
            <a:ext cx="12639675" cy="1928464"/>
            <a:chOff x="0" y="-57150"/>
            <a:chExt cx="11099800" cy="2571285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9655610-E10E-923C-2D1B-D998140FEBE9}"/>
                </a:ext>
              </a:extLst>
            </p:cNvPr>
            <p:cNvSpPr txBox="1"/>
            <p:nvPr/>
          </p:nvSpPr>
          <p:spPr>
            <a:xfrm>
              <a:off x="0" y="811531"/>
              <a:ext cx="11099800" cy="17026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3359"/>
                </a:lnSpc>
              </a:pPr>
              <a:r>
                <a:rPr lang="en-US" sz="2400" dirty="0">
                  <a:solidFill>
                    <a:srgbClr val="2F3E4F"/>
                  </a:solidFill>
                  <a:latin typeface="Rubik"/>
                  <a:ea typeface="Rubik"/>
                  <a:cs typeface="Rubik"/>
                  <a:sym typeface="Rubik"/>
                </a:rPr>
                <a:t>Expand coverage across Italy and enhance performance by upgrading technology and optimization practices, including Airflow orchestration and caching mechanisms.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DB429CB-C717-D08E-9F53-85753B89C315}"/>
                </a:ext>
              </a:extLst>
            </p:cNvPr>
            <p:cNvSpPr txBox="1"/>
            <p:nvPr/>
          </p:nvSpPr>
          <p:spPr>
            <a:xfrm>
              <a:off x="0" y="-57150"/>
              <a:ext cx="11099800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3359"/>
                </a:lnSpc>
              </a:pPr>
              <a:r>
                <a:rPr lang="en-US" sz="2400" b="1" dirty="0">
                  <a:solidFill>
                    <a:srgbClr val="2F3E4F"/>
                  </a:solidFill>
                  <a:latin typeface="Rubik Bold"/>
                  <a:ea typeface="Rubik Bold"/>
                  <a:cs typeface="Rubik Bold"/>
                  <a:sym typeface="Rubik Bold"/>
                </a:rPr>
                <a:t>Medium term Enhancements</a:t>
              </a:r>
            </a:p>
          </p:txBody>
        </p:sp>
      </p:grpSp>
      <p:grpSp>
        <p:nvGrpSpPr>
          <p:cNvPr id="21" name="Group 17">
            <a:extLst>
              <a:ext uri="{FF2B5EF4-FFF2-40B4-BE49-F238E27FC236}">
                <a16:creationId xmlns:a16="http://schemas.microsoft.com/office/drawing/2014/main" id="{42446B2A-1C2F-7B1D-D49F-938EBC37350D}"/>
              </a:ext>
            </a:extLst>
          </p:cNvPr>
          <p:cNvGrpSpPr/>
          <p:nvPr/>
        </p:nvGrpSpPr>
        <p:grpSpPr>
          <a:xfrm>
            <a:off x="2105024" y="6636246"/>
            <a:ext cx="12639674" cy="1492447"/>
            <a:chOff x="0" y="-57150"/>
            <a:chExt cx="11099800" cy="1989929"/>
          </a:xfrm>
        </p:grpSpPr>
        <p:sp>
          <p:nvSpPr>
            <p:cNvPr id="22" name="TextBox 18">
              <a:extLst>
                <a:ext uri="{FF2B5EF4-FFF2-40B4-BE49-F238E27FC236}">
                  <a16:creationId xmlns:a16="http://schemas.microsoft.com/office/drawing/2014/main" id="{57A5C196-6505-4D1A-F983-0FBA4D900174}"/>
                </a:ext>
              </a:extLst>
            </p:cNvPr>
            <p:cNvSpPr txBox="1"/>
            <p:nvPr/>
          </p:nvSpPr>
          <p:spPr>
            <a:xfrm>
              <a:off x="0" y="811531"/>
              <a:ext cx="11099800" cy="11212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400" dirty="0">
                  <a:solidFill>
                    <a:srgbClr val="2F3E4F"/>
                  </a:solidFill>
                  <a:latin typeface="Rubik"/>
                  <a:ea typeface="Rubik"/>
                  <a:cs typeface="Rubik"/>
                  <a:sym typeface="Rubik"/>
                </a:rPr>
                <a:t>Build intelligent train analysis system with ML for prediction of delay and cancellation.</a:t>
              </a:r>
            </a:p>
          </p:txBody>
        </p:sp>
        <p:sp>
          <p:nvSpPr>
            <p:cNvPr id="23" name="TextBox 19">
              <a:extLst>
                <a:ext uri="{FF2B5EF4-FFF2-40B4-BE49-F238E27FC236}">
                  <a16:creationId xmlns:a16="http://schemas.microsoft.com/office/drawing/2014/main" id="{9EEAAD5F-56F7-DEF3-E693-C1C680B46F10}"/>
                </a:ext>
              </a:extLst>
            </p:cNvPr>
            <p:cNvSpPr txBox="1"/>
            <p:nvPr/>
          </p:nvSpPr>
          <p:spPr>
            <a:xfrm>
              <a:off x="0" y="-57150"/>
              <a:ext cx="11099800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3359"/>
                </a:lnSpc>
              </a:pPr>
              <a:r>
                <a:rPr lang="en-US" sz="2400" b="1" dirty="0">
                  <a:solidFill>
                    <a:srgbClr val="2F3E4F"/>
                  </a:solidFill>
                  <a:latin typeface="Rubik Bold"/>
                  <a:ea typeface="Rubik Bold"/>
                  <a:cs typeface="Rubik Bold"/>
                  <a:sym typeface="Rubik Bold"/>
                </a:rPr>
                <a:t>Long term Enhancements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FA91B3-60C0-C041-2693-D4662FCAA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40B2DA4-F15C-5CB6-7F7F-6F0AB7B066F8}"/>
              </a:ext>
            </a:extLst>
          </p:cNvPr>
          <p:cNvGrpSpPr/>
          <p:nvPr/>
        </p:nvGrpSpPr>
        <p:grpSpPr>
          <a:xfrm>
            <a:off x="0" y="6934200"/>
            <a:ext cx="18288000" cy="3352800"/>
            <a:chOff x="0" y="0"/>
            <a:chExt cx="4816593" cy="883042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C8009BD-6135-1673-2462-2839428278CD}"/>
                </a:ext>
              </a:extLst>
            </p:cNvPr>
            <p:cNvSpPr/>
            <p:nvPr/>
          </p:nvSpPr>
          <p:spPr>
            <a:xfrm>
              <a:off x="0" y="0"/>
              <a:ext cx="4816592" cy="883042"/>
            </a:xfrm>
            <a:custGeom>
              <a:avLst/>
              <a:gdLst/>
              <a:ahLst/>
              <a:cxnLst/>
              <a:rect l="l" t="t" r="r" b="b"/>
              <a:pathLst>
                <a:path w="4816592" h="883042">
                  <a:moveTo>
                    <a:pt x="0" y="0"/>
                  </a:moveTo>
                  <a:lnTo>
                    <a:pt x="4816592" y="0"/>
                  </a:lnTo>
                  <a:lnTo>
                    <a:pt x="4816592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7388A2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4406828-A595-FFB3-C147-63056A4FBD77}"/>
                </a:ext>
              </a:extLst>
            </p:cNvPr>
            <p:cNvSpPr txBox="1"/>
            <p:nvPr/>
          </p:nvSpPr>
          <p:spPr>
            <a:xfrm>
              <a:off x="0" y="-57150"/>
              <a:ext cx="4816593" cy="9401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730C248F-3ECB-7158-F385-CAA61F86AFDC}"/>
              </a:ext>
            </a:extLst>
          </p:cNvPr>
          <p:cNvGrpSpPr/>
          <p:nvPr/>
        </p:nvGrpSpPr>
        <p:grpSpPr>
          <a:xfrm>
            <a:off x="666750" y="666750"/>
            <a:ext cx="16954500" cy="8953500"/>
            <a:chOff x="0" y="0"/>
            <a:chExt cx="4465383" cy="235812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7A41899F-44C2-12DC-4A19-5BBA7D5BF6EB}"/>
                </a:ext>
              </a:extLst>
            </p:cNvPr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18265" y="0"/>
                  </a:moveTo>
                  <a:lnTo>
                    <a:pt x="4447118" y="0"/>
                  </a:lnTo>
                  <a:cubicBezTo>
                    <a:pt x="4457205" y="0"/>
                    <a:pt x="4465383" y="8178"/>
                    <a:pt x="4465383" y="18265"/>
                  </a:cubicBezTo>
                  <a:lnTo>
                    <a:pt x="4465383" y="2339858"/>
                  </a:lnTo>
                  <a:cubicBezTo>
                    <a:pt x="4465383" y="2349946"/>
                    <a:pt x="4457205" y="2358124"/>
                    <a:pt x="4447118" y="2358124"/>
                  </a:cubicBezTo>
                  <a:lnTo>
                    <a:pt x="18265" y="2358124"/>
                  </a:lnTo>
                  <a:cubicBezTo>
                    <a:pt x="8178" y="2358124"/>
                    <a:pt x="0" y="2349946"/>
                    <a:pt x="0" y="2339858"/>
                  </a:cubicBezTo>
                  <a:lnTo>
                    <a:pt x="0" y="18265"/>
                  </a:lnTo>
                  <a:cubicBezTo>
                    <a:pt x="0" y="8178"/>
                    <a:pt x="8178" y="0"/>
                    <a:pt x="18265" y="0"/>
                  </a:cubicBezTo>
                  <a:close/>
                </a:path>
              </a:pathLst>
            </a:custGeom>
            <a:solidFill>
              <a:srgbClr val="E1E8F0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EE5186BD-5EEC-78CD-9E0C-6B72DBA982EA}"/>
                </a:ext>
              </a:extLst>
            </p:cNvPr>
            <p:cNvSpPr txBox="1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A3F50F03-FAC3-A72D-E964-AAE16F82B3DB}"/>
              </a:ext>
            </a:extLst>
          </p:cNvPr>
          <p:cNvGrpSpPr/>
          <p:nvPr/>
        </p:nvGrpSpPr>
        <p:grpSpPr>
          <a:xfrm>
            <a:off x="2105024" y="1462088"/>
            <a:ext cx="13592176" cy="7308688"/>
            <a:chOff x="-1" y="-133349"/>
            <a:chExt cx="16852901" cy="9744919"/>
          </a:xfrm>
        </p:grpSpPr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C87C18AF-36E4-63AC-7C2F-8F0B0A5DD543}"/>
                </a:ext>
              </a:extLst>
            </p:cNvPr>
            <p:cNvSpPr txBox="1"/>
            <p:nvPr/>
          </p:nvSpPr>
          <p:spPr>
            <a:xfrm>
              <a:off x="0" y="-133349"/>
              <a:ext cx="16852900" cy="13507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920"/>
                </a:lnSpc>
                <a:spcBef>
                  <a:spcPct val="0"/>
                </a:spcBef>
              </a:pPr>
              <a:r>
                <a:rPr lang="en-US" sz="6600" b="1" u="none" strike="noStrike" dirty="0">
                  <a:solidFill>
                    <a:srgbClr val="2F3E4F"/>
                  </a:solidFill>
                  <a:latin typeface="ITC Motter Corpus Semicondensed"/>
                  <a:ea typeface="ITC Motter Corpus Semicondensed"/>
                  <a:cs typeface="ITC Motter Corpus Semicondensed"/>
                  <a:sym typeface="ITC Motter Corpus Semicondensed"/>
                </a:rPr>
                <a:t>CONCLUSION</a:t>
              </a: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A48300B4-D6C7-FB1A-EBA3-6062CF96441C}"/>
                </a:ext>
              </a:extLst>
            </p:cNvPr>
            <p:cNvSpPr txBox="1"/>
            <p:nvPr/>
          </p:nvSpPr>
          <p:spPr>
            <a:xfrm>
              <a:off x="-1" y="1567058"/>
              <a:ext cx="16852900" cy="80445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7200" lvl="0" indent="-457200">
                <a:lnSpc>
                  <a:spcPct val="150000"/>
                </a:lnSpc>
                <a:buFont typeface="+mj-lt"/>
                <a:buAutoNum type="arabicPeriod"/>
              </a:pPr>
              <a:r>
                <a:rPr lang="en-US" sz="2400" dirty="0">
                  <a:solidFill>
                    <a:srgbClr val="2F3E4F"/>
                  </a:solidFill>
                  <a:latin typeface="Rubik"/>
                  <a:ea typeface="Rubik"/>
                  <a:cs typeface="Rubik"/>
                  <a:sym typeface="Rubik"/>
                </a:rPr>
                <a:t>The project analyzed how weather conditions influence railway delays in Lombardy by building a data pipeline with strong quality controls and integrated datasets.</a:t>
              </a:r>
            </a:p>
            <a:p>
              <a:pPr marL="457200" lvl="0" indent="-457200">
                <a:lnSpc>
                  <a:spcPct val="150000"/>
                </a:lnSpc>
                <a:buFont typeface="+mj-lt"/>
                <a:buAutoNum type="arabicPeriod"/>
              </a:pPr>
              <a:r>
                <a:rPr lang="en-US" sz="2400" dirty="0">
                  <a:solidFill>
                    <a:srgbClr val="2F3E4F"/>
                  </a:solidFill>
                  <a:latin typeface="Rubik"/>
                  <a:ea typeface="Rubik"/>
                  <a:cs typeface="Rubik"/>
                  <a:sym typeface="Rubik"/>
                </a:rPr>
                <a:t>Results show a mild correlation between weather especially rainfall and delay duration, but the overall impact is moderate.</a:t>
              </a:r>
            </a:p>
            <a:p>
              <a:pPr marL="457200" lvl="0" indent="-457200">
                <a:lnSpc>
                  <a:spcPct val="150000"/>
                </a:lnSpc>
                <a:buFont typeface="+mj-lt"/>
                <a:buAutoNum type="arabicPeriod"/>
              </a:pPr>
              <a:r>
                <a:rPr lang="en-US" sz="2400" dirty="0">
                  <a:solidFill>
                    <a:srgbClr val="2F3E4F"/>
                  </a:solidFill>
                  <a:latin typeface="Rubik"/>
                  <a:ea typeface="Rubik"/>
                  <a:cs typeface="Rubik"/>
                  <a:sym typeface="Rubik"/>
                </a:rPr>
                <a:t>Because the dataset covers a limited timeframe without extreme weather events, the findings are indicative rather than conclusive.</a:t>
              </a:r>
            </a:p>
            <a:p>
              <a:pPr marL="457200" lvl="0" indent="-457200">
                <a:lnSpc>
                  <a:spcPct val="150000"/>
                </a:lnSpc>
                <a:buFont typeface="+mj-lt"/>
                <a:buAutoNum type="arabicPeriod"/>
              </a:pPr>
              <a:r>
                <a:rPr lang="en-US" sz="2400" dirty="0">
                  <a:solidFill>
                    <a:srgbClr val="2F3E4F"/>
                  </a:solidFill>
                  <a:latin typeface="Rubik"/>
                  <a:ea typeface="Rubik"/>
                  <a:cs typeface="Rubik"/>
                  <a:sym typeface="Rubik"/>
                </a:rPr>
                <a:t>Expanding the historical data would help make the results conclusive and would help in predictive modeling</a:t>
              </a:r>
            </a:p>
            <a:p>
              <a:pPr marL="457200" lvl="0" indent="-457200">
                <a:lnSpc>
                  <a:spcPct val="150000"/>
                </a:lnSpc>
                <a:buFont typeface="+mj-lt"/>
                <a:buAutoNum type="arabicPeriod"/>
              </a:pPr>
              <a:r>
                <a:rPr lang="en-US" sz="2400" dirty="0">
                  <a:solidFill>
                    <a:srgbClr val="2F3E4F"/>
                  </a:solidFill>
                  <a:latin typeface="Rubik"/>
                  <a:ea typeface="Rubik"/>
                  <a:cs typeface="Rubik"/>
                  <a:sym typeface="Rubik"/>
                </a:rPr>
                <a:t>Overall, the project proves that a well-designed data pipeline can handle complex data integration and provide meaningful insights into the relationship between weather and train delays.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36824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751</TotalTime>
  <Words>457</Words>
  <Application>Microsoft Macintosh PowerPoint</Application>
  <PresentationFormat>Custom</PresentationFormat>
  <Paragraphs>74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Calibri</vt:lpstr>
      <vt:lpstr>Rubik</vt:lpstr>
      <vt:lpstr>ITC Motter Corpus Semicondensed</vt:lpstr>
      <vt:lpstr>Arial</vt:lpstr>
      <vt:lpstr>Rubik Bold</vt:lpstr>
      <vt:lpstr>Fira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TrainAnalysis Project</dc:title>
  <dc:description>Presentation - TrainAnalysis Project</dc:description>
  <cp:lastModifiedBy>Saad Ur Rehman Baig</cp:lastModifiedBy>
  <cp:revision>16</cp:revision>
  <dcterms:created xsi:type="dcterms:W3CDTF">2006-08-16T00:00:00Z</dcterms:created>
  <dcterms:modified xsi:type="dcterms:W3CDTF">2025-12-31T09:19:02Z</dcterms:modified>
  <dc:identifier>DAG9BNp3kvI</dc:identifier>
</cp:coreProperties>
</file>